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2: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2: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6a41180002_0_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6a41180002_0_15: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6a41180002_0_15: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a41180002_0_2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6a41180002_0_23: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g36a41180002_0_23: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6a41180002_0_3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6a41180002_0_30: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36a41180002_0_30: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6a41180002_0_36:notes"/>
          <p:cNvSpPr>
            <a:spLocks noGrp="1" noRot="1" noChangeAspect="1"/>
          </p:cNvSpPr>
          <p:nvPr>
            <p:ph type="sldImg" idx="2"/>
          </p:nvPr>
        </p:nvSpPr>
        <p:spPr>
          <a:xfrm>
            <a:off x="398463" y="1243013"/>
            <a:ext cx="5964300" cy="335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6a41180002_0_36: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36a41180002_0_36: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6a41180002_0_4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6a41180002_0_42: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6a41180002_0_42: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677340b611_0_18:notes"/>
          <p:cNvSpPr>
            <a:spLocks noGrp="1" noRot="1" noChangeAspect="1"/>
          </p:cNvSpPr>
          <p:nvPr>
            <p:ph type="sldImg" idx="2"/>
          </p:nvPr>
        </p:nvSpPr>
        <p:spPr>
          <a:xfrm>
            <a:off x="398463" y="1243013"/>
            <a:ext cx="5964300" cy="335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677340b611_0_18: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3677340b611_0_18: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6a41180002_0_48:notes"/>
          <p:cNvSpPr>
            <a:spLocks noGrp="1" noRot="1" noChangeAspect="1"/>
          </p:cNvSpPr>
          <p:nvPr>
            <p:ph type="sldImg" idx="2"/>
          </p:nvPr>
        </p:nvSpPr>
        <p:spPr>
          <a:xfrm>
            <a:off x="398463" y="1243013"/>
            <a:ext cx="5964300" cy="335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6a41180002_0_48: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36a41180002_0_48: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a41180002_0_5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6a41180002_0_54: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36a41180002_0_54: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a41180002_0_6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6a41180002_0_60: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36a41180002_0_60: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6a41180002_0_6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6a41180002_0_66: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36a41180002_0_66: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6a41180002_0_7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6a41180002_0_72: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36a41180002_0_72: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2"/>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2"/>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2"/>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2"/>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3"/>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3"/>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4"/>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4"/>
          <p:cNvGrpSpPr/>
          <p:nvPr/>
        </p:nvGrpSpPr>
        <p:grpSpPr>
          <a:xfrm>
            <a:off x="4862837" y="6212514"/>
            <a:ext cx="2313924" cy="600635"/>
            <a:chOff x="9682912" y="8965"/>
            <a:chExt cx="2402541" cy="600635"/>
          </a:xfrm>
        </p:grpSpPr>
        <p:sp>
          <p:nvSpPr>
            <p:cNvPr id="34" name="Google Shape;34;p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4"/>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5"/>
          <p:cNvGrpSpPr/>
          <p:nvPr/>
        </p:nvGrpSpPr>
        <p:grpSpPr>
          <a:xfrm>
            <a:off x="9842217" y="17838"/>
            <a:ext cx="2313924" cy="600635"/>
            <a:chOff x="9682912" y="8965"/>
            <a:chExt cx="2402541" cy="600635"/>
          </a:xfrm>
        </p:grpSpPr>
        <p:sp>
          <p:nvSpPr>
            <p:cNvPr id="44" name="Google Shape;44;p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6"/>
          <p:cNvGrpSpPr/>
          <p:nvPr/>
        </p:nvGrpSpPr>
        <p:grpSpPr>
          <a:xfrm>
            <a:off x="-35002" y="0"/>
            <a:ext cx="12191145" cy="6858000"/>
            <a:chOff x="-35003" y="-1"/>
            <a:chExt cx="12191144" cy="6858000"/>
          </a:xfrm>
        </p:grpSpPr>
        <p:sp>
          <p:nvSpPr>
            <p:cNvPr id="48" name="Google Shape;48;p6"/>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6"/>
            <p:cNvGrpSpPr/>
            <p:nvPr/>
          </p:nvGrpSpPr>
          <p:grpSpPr>
            <a:xfrm>
              <a:off x="0" y="-1"/>
              <a:ext cx="1174375" cy="932329"/>
              <a:chOff x="1" y="0"/>
              <a:chExt cx="995082" cy="663388"/>
            </a:xfrm>
          </p:grpSpPr>
          <p:sp>
            <p:nvSpPr>
              <p:cNvPr id="50" name="Google Shape;50;p6"/>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6"/>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6"/>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6"/>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6"/>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6"/>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6"/>
          <p:cNvGrpSpPr/>
          <p:nvPr/>
        </p:nvGrpSpPr>
        <p:grpSpPr>
          <a:xfrm>
            <a:off x="9842217" y="17838"/>
            <a:ext cx="2313924" cy="600635"/>
            <a:chOff x="9682912" y="8965"/>
            <a:chExt cx="2402541" cy="600635"/>
          </a:xfrm>
        </p:grpSpPr>
        <p:sp>
          <p:nvSpPr>
            <p:cNvPr id="61" name="Google Shape;61;p6"/>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6"/>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7"/>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7"/>
          <p:cNvGrpSpPr/>
          <p:nvPr/>
        </p:nvGrpSpPr>
        <p:grpSpPr>
          <a:xfrm>
            <a:off x="0" y="1"/>
            <a:ext cx="1174375" cy="932329"/>
            <a:chOff x="1" y="0"/>
            <a:chExt cx="995082" cy="663388"/>
          </a:xfrm>
        </p:grpSpPr>
        <p:sp>
          <p:nvSpPr>
            <p:cNvPr id="70" name="Google Shape;70;p7"/>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7"/>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7"/>
          <p:cNvGrpSpPr/>
          <p:nvPr/>
        </p:nvGrpSpPr>
        <p:grpSpPr>
          <a:xfrm>
            <a:off x="9842217" y="17838"/>
            <a:ext cx="2313924" cy="600635"/>
            <a:chOff x="9682912" y="8965"/>
            <a:chExt cx="2402541" cy="600635"/>
          </a:xfrm>
        </p:grpSpPr>
        <p:sp>
          <p:nvSpPr>
            <p:cNvPr id="73" name="Google Shape;73;p7"/>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7"/>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8"/>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8"/>
          <p:cNvGrpSpPr/>
          <p:nvPr/>
        </p:nvGrpSpPr>
        <p:grpSpPr>
          <a:xfrm>
            <a:off x="9842217" y="17838"/>
            <a:ext cx="2313924" cy="600635"/>
            <a:chOff x="9682912" y="8965"/>
            <a:chExt cx="2402541" cy="600635"/>
          </a:xfrm>
        </p:grpSpPr>
        <p:sp>
          <p:nvSpPr>
            <p:cNvPr id="81" name="Google Shape;81;p8"/>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8"/>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8"/>
          <p:cNvGrpSpPr/>
          <p:nvPr/>
        </p:nvGrpSpPr>
        <p:grpSpPr>
          <a:xfrm>
            <a:off x="0" y="1"/>
            <a:ext cx="1174375" cy="932329"/>
            <a:chOff x="1" y="0"/>
            <a:chExt cx="995082" cy="663388"/>
          </a:xfrm>
        </p:grpSpPr>
        <p:sp>
          <p:nvSpPr>
            <p:cNvPr id="84" name="Google Shape;84;p8"/>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8"/>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8"/>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9"/>
          <p:cNvGrpSpPr/>
          <p:nvPr/>
        </p:nvGrpSpPr>
        <p:grpSpPr>
          <a:xfrm>
            <a:off x="-35002" y="0"/>
            <a:ext cx="12191145" cy="6858000"/>
            <a:chOff x="-35003" y="-1"/>
            <a:chExt cx="12191144" cy="6858000"/>
          </a:xfrm>
        </p:grpSpPr>
        <p:sp>
          <p:nvSpPr>
            <p:cNvPr id="89" name="Google Shape;89;p9"/>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9"/>
            <p:cNvGrpSpPr/>
            <p:nvPr/>
          </p:nvGrpSpPr>
          <p:grpSpPr>
            <a:xfrm>
              <a:off x="0" y="-1"/>
              <a:ext cx="1174375" cy="932329"/>
              <a:chOff x="1" y="0"/>
              <a:chExt cx="995082" cy="663388"/>
            </a:xfrm>
          </p:grpSpPr>
          <p:sp>
            <p:nvSpPr>
              <p:cNvPr id="91" name="Google Shape;91;p9"/>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9"/>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9"/>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9"/>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9"/>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9"/>
          <p:cNvGrpSpPr/>
          <p:nvPr/>
        </p:nvGrpSpPr>
        <p:grpSpPr>
          <a:xfrm>
            <a:off x="9842217" y="17838"/>
            <a:ext cx="2313924" cy="600635"/>
            <a:chOff x="9682912" y="8965"/>
            <a:chExt cx="2402541" cy="600635"/>
          </a:xfrm>
        </p:grpSpPr>
        <p:sp>
          <p:nvSpPr>
            <p:cNvPr id="100" name="Google Shape;100;p9"/>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9"/>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10"/>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0"/>
          <p:cNvSpPr>
            <a:spLocks noGrp="1"/>
          </p:cNvSpPr>
          <p:nvPr>
            <p:ph type="pic" idx="2"/>
          </p:nvPr>
        </p:nvSpPr>
        <p:spPr>
          <a:xfrm>
            <a:off x="5183188" y="987425"/>
            <a:ext cx="6172201" cy="4873625"/>
          </a:xfrm>
          <a:prstGeom prst="rect">
            <a:avLst/>
          </a:prstGeom>
          <a:noFill/>
          <a:ln>
            <a:noFill/>
          </a:ln>
        </p:spPr>
      </p:sp>
      <p:sp>
        <p:nvSpPr>
          <p:cNvPr id="105" name="Google Shape;105;p10"/>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1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11"/>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1"/>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1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12"/>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2"/>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1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components101.com/rfid-rc522-modul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Monday, 23 June 2025</a:t>
            </a:r>
            <a:endParaRPr/>
          </a:p>
        </p:txBody>
      </p:sp>
      <p:sp>
        <p:nvSpPr>
          <p:cNvPr id="126" name="Google Shape;126;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3" descr="A building with a roof&#10;&#10;Description automatically generated"/>
          <p:cNvPicPr preferRelativeResize="0">
            <a:picLocks noGrp="1"/>
          </p:cNvPicPr>
          <p:nvPr>
            <p:ph type="body" idx="1"/>
          </p:nvPr>
        </p:nvPicPr>
        <p:blipFill rotWithShape="1">
          <a:blip r:embed="rId3">
            <a:alphaModFix/>
          </a:blip>
          <a:srcRect/>
          <a:stretch/>
        </p:blipFill>
        <p:spPr>
          <a:xfrm>
            <a:off x="596129" y="810297"/>
            <a:ext cx="11421000" cy="3894000"/>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3"/>
          <p:cNvSpPr/>
          <p:nvPr/>
        </p:nvSpPr>
        <p:spPr>
          <a:xfrm>
            <a:off x="523221" y="3964084"/>
            <a:ext cx="11530354" cy="1729145"/>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dirty="0">
                <a:solidFill>
                  <a:schemeClr val="lt1"/>
                </a:solidFill>
                <a:latin typeface="Bookman Old Style"/>
                <a:ea typeface="Bookman Old Style"/>
                <a:cs typeface="Bookman Old Style"/>
                <a:sym typeface="Bookman Old Style"/>
              </a:rPr>
              <a:t>Design and Development of an RFID and Bluetooth -Based Smart Lock System Using Arduino UNO</a:t>
            </a:r>
            <a:endParaRPr sz="3600" dirty="0">
              <a:solidFill>
                <a:schemeClr val="lt1"/>
              </a:solidFill>
              <a:latin typeface="Bookman Old Style"/>
              <a:ea typeface="Bookman Old Style"/>
              <a:cs typeface="Bookman Old Style"/>
              <a:sym typeface="Bookman Old Style"/>
            </a:endParaRPr>
          </a:p>
        </p:txBody>
      </p:sp>
      <p:sp>
        <p:nvSpPr>
          <p:cNvPr id="129" name="Google Shape;129;p13"/>
          <p:cNvSpPr/>
          <p:nvPr/>
        </p:nvSpPr>
        <p:spPr>
          <a:xfrm>
            <a:off x="559675" y="5693229"/>
            <a:ext cx="11493900" cy="654046"/>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i="0" u="none" strike="noStrike" cap="none" dirty="0">
                <a:solidFill>
                  <a:schemeClr val="lt1"/>
                </a:solidFill>
                <a:latin typeface="Bookman Old Style"/>
                <a:ea typeface="Bookman Old Style"/>
                <a:cs typeface="Bookman Old Style"/>
                <a:sym typeface="Bookman Old Style"/>
              </a:rPr>
              <a:t>IDEA LAB PHASE-1 &amp; 2</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4"/>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Monday, 23 June 2025</a:t>
            </a:r>
            <a:endParaRPr/>
          </a:p>
        </p:txBody>
      </p:sp>
      <p:sp>
        <p:nvSpPr>
          <p:cNvPr id="136" name="Google Shape;13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37" name="Google Shape;137;p14"/>
          <p:cNvSpPr txBox="1"/>
          <p:nvPr/>
        </p:nvSpPr>
        <p:spPr>
          <a:xfrm>
            <a:off x="2558784" y="-51844"/>
            <a:ext cx="9535245" cy="8246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i="0" u="none" strike="noStrike" cap="none">
                <a:solidFill>
                  <a:srgbClr val="C00000"/>
                </a:solidFill>
                <a:latin typeface="Bookman Old Style"/>
                <a:ea typeface="Bookman Old Style"/>
                <a:cs typeface="Bookman Old Style"/>
                <a:sym typeface="Bookman Old Style"/>
              </a:rPr>
              <a:t>Team Members</a:t>
            </a:r>
            <a:endParaRPr sz="3200" b="1" i="0" u="none" strike="noStrike" cap="none">
              <a:solidFill>
                <a:srgbClr val="C00000"/>
              </a:solidFill>
              <a:latin typeface="Bookman Old Style"/>
              <a:ea typeface="Bookman Old Style"/>
              <a:cs typeface="Bookman Old Style"/>
              <a:sym typeface="Bookman Old Style"/>
            </a:endParaRPr>
          </a:p>
        </p:txBody>
      </p:sp>
      <p:sp>
        <p:nvSpPr>
          <p:cNvPr id="138" name="Google Shape;138;p14"/>
          <p:cNvSpPr txBox="1"/>
          <p:nvPr/>
        </p:nvSpPr>
        <p:spPr>
          <a:xfrm>
            <a:off x="273503" y="4671067"/>
            <a:ext cx="4001246" cy="1676137"/>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2000" b="1" i="0" u="none" strike="noStrike" cap="none">
                <a:solidFill>
                  <a:srgbClr val="C00000"/>
                </a:solidFill>
                <a:latin typeface="Bookman Old Style"/>
                <a:ea typeface="Bookman Old Style"/>
                <a:cs typeface="Bookman Old Style"/>
                <a:sym typeface="Bookman Old Style"/>
              </a:rPr>
              <a:t>Keshavamurthy YC</a:t>
            </a:r>
            <a:endParaRPr/>
          </a:p>
          <a:p>
            <a:pPr marL="0" marR="0" lvl="0" indent="0" algn="ctr" rtl="0">
              <a:spcBef>
                <a:spcPts val="0"/>
              </a:spcBef>
              <a:spcAft>
                <a:spcPts val="0"/>
              </a:spcAft>
              <a:buNone/>
            </a:pPr>
            <a:r>
              <a:rPr lang="en-IN" sz="2000" b="1" i="0" u="none" strike="noStrike" cap="none">
                <a:solidFill>
                  <a:srgbClr val="C00000"/>
                </a:solidFill>
                <a:latin typeface="Bookman Old Style"/>
                <a:ea typeface="Bookman Old Style"/>
                <a:cs typeface="Bookman Old Style"/>
                <a:sym typeface="Bookman Old Style"/>
              </a:rPr>
              <a:t>Idea Lab ISE B1</a:t>
            </a:r>
            <a:endParaRPr/>
          </a:p>
          <a:p>
            <a:pPr marL="0" marR="0" lvl="0" indent="0" algn="ctr" rtl="0">
              <a:spcBef>
                <a:spcPts val="0"/>
              </a:spcBef>
              <a:spcAft>
                <a:spcPts val="0"/>
              </a:spcAft>
              <a:buNone/>
            </a:pPr>
            <a:r>
              <a:rPr lang="en-IN" sz="2000" b="1" i="0" u="none" strike="noStrike" cap="none">
                <a:solidFill>
                  <a:srgbClr val="C00000"/>
                </a:solidFill>
                <a:latin typeface="Bookman Old Style"/>
                <a:ea typeface="Bookman Old Style"/>
                <a:cs typeface="Bookman Old Style"/>
                <a:sym typeface="Bookman Old Style"/>
              </a:rPr>
              <a:t>Dept of Mechanical Engg</a:t>
            </a:r>
            <a:endParaRPr/>
          </a:p>
          <a:p>
            <a:pPr marL="0" marR="0" lvl="0" indent="0" algn="ctr" rtl="0">
              <a:spcBef>
                <a:spcPts val="0"/>
              </a:spcBef>
              <a:spcAft>
                <a:spcPts val="0"/>
              </a:spcAft>
              <a:buNone/>
            </a:pPr>
            <a:r>
              <a:rPr lang="en-IN" sz="2000" b="1" i="0" u="none" strike="noStrike" cap="none">
                <a:solidFill>
                  <a:srgbClr val="C00000"/>
                </a:solidFill>
                <a:latin typeface="Bookman Old Style"/>
                <a:ea typeface="Bookman Old Style"/>
                <a:cs typeface="Bookman Old Style"/>
                <a:sym typeface="Bookman Old Style"/>
              </a:rPr>
              <a:t>RVCE</a:t>
            </a:r>
            <a:endParaRPr/>
          </a:p>
        </p:txBody>
      </p:sp>
      <p:sp>
        <p:nvSpPr>
          <p:cNvPr id="139" name="Google Shape;139;p14"/>
          <p:cNvSpPr txBox="1"/>
          <p:nvPr/>
        </p:nvSpPr>
        <p:spPr>
          <a:xfrm>
            <a:off x="4676891" y="2957775"/>
            <a:ext cx="244436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b="0" i="0" u="none" strike="noStrike" cap="none">
                <a:solidFill>
                  <a:srgbClr val="000000"/>
                </a:solidFill>
                <a:latin typeface="Arial"/>
                <a:ea typeface="Arial"/>
                <a:cs typeface="Arial"/>
                <a:sym typeface="Arial"/>
              </a:rPr>
              <a:t>Name: Aamani Jha </a:t>
            </a:r>
            <a:endParaRPr/>
          </a:p>
          <a:p>
            <a:pPr marL="0" marR="0" lvl="0" indent="0" algn="l" rtl="0">
              <a:spcBef>
                <a:spcPts val="0"/>
              </a:spcBef>
              <a:spcAft>
                <a:spcPts val="0"/>
              </a:spcAft>
              <a:buNone/>
            </a:pPr>
            <a:r>
              <a:rPr lang="en-IN" sz="1400">
                <a:solidFill>
                  <a:srgbClr val="000000"/>
                </a:solidFill>
                <a:latin typeface="Arial"/>
                <a:ea typeface="Arial"/>
                <a:cs typeface="Arial"/>
                <a:sym typeface="Arial"/>
              </a:rPr>
              <a:t>USN: 1RV24IS002</a:t>
            </a:r>
            <a:endParaRPr sz="1400">
              <a:solidFill>
                <a:schemeClr val="dk1"/>
              </a:solidFill>
              <a:latin typeface="Calibri"/>
              <a:ea typeface="Calibri"/>
              <a:cs typeface="Calibri"/>
              <a:sym typeface="Calibri"/>
            </a:endParaRPr>
          </a:p>
        </p:txBody>
      </p:sp>
      <p:pic>
        <p:nvPicPr>
          <p:cNvPr id="140" name="Google Shape;140;p14" descr="A person with a mustache and a red dot on his forehead&#10;&#10;AI-generated content may be incorrect."/>
          <p:cNvPicPr preferRelativeResize="0"/>
          <p:nvPr/>
        </p:nvPicPr>
        <p:blipFill rotWithShape="1">
          <a:blip r:embed="rId3">
            <a:alphaModFix/>
          </a:blip>
          <a:srcRect t="3168" b="15509"/>
          <a:stretch/>
        </p:blipFill>
        <p:spPr>
          <a:xfrm>
            <a:off x="1103109" y="1814441"/>
            <a:ext cx="2186168" cy="2666743"/>
          </a:xfrm>
          <a:prstGeom prst="rect">
            <a:avLst/>
          </a:prstGeom>
          <a:noFill/>
          <a:ln>
            <a:noFill/>
          </a:ln>
        </p:spPr>
      </p:pic>
      <p:sp>
        <p:nvSpPr>
          <p:cNvPr id="141" name="Google Shape;141;p14"/>
          <p:cNvSpPr txBox="1"/>
          <p:nvPr/>
        </p:nvSpPr>
        <p:spPr>
          <a:xfrm>
            <a:off x="9423419" y="2957780"/>
            <a:ext cx="24444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b="0" i="0" u="none" strike="noStrike">
                <a:solidFill>
                  <a:srgbClr val="000000"/>
                </a:solidFill>
                <a:latin typeface="Arial"/>
                <a:ea typeface="Arial"/>
                <a:cs typeface="Arial"/>
                <a:sym typeface="Arial"/>
              </a:rPr>
              <a:t>Name: Aayushi Priya </a:t>
            </a:r>
            <a:endParaRPr/>
          </a:p>
          <a:p>
            <a:pPr marL="0" marR="0" lvl="0" indent="0" algn="l" rtl="0">
              <a:spcBef>
                <a:spcPts val="0"/>
              </a:spcBef>
              <a:spcAft>
                <a:spcPts val="0"/>
              </a:spcAft>
              <a:buNone/>
            </a:pPr>
            <a:r>
              <a:rPr lang="en-IN" sz="1400">
                <a:solidFill>
                  <a:srgbClr val="000000"/>
                </a:solidFill>
                <a:latin typeface="Arial"/>
                <a:ea typeface="Arial"/>
                <a:cs typeface="Arial"/>
                <a:sym typeface="Arial"/>
              </a:rPr>
              <a:t>USN: 1RV24IS005</a:t>
            </a:r>
            <a:endParaRPr sz="1400">
              <a:solidFill>
                <a:schemeClr val="dk1"/>
              </a:solidFill>
              <a:latin typeface="Calibri"/>
              <a:ea typeface="Calibri"/>
              <a:cs typeface="Calibri"/>
              <a:sym typeface="Calibri"/>
            </a:endParaRPr>
          </a:p>
        </p:txBody>
      </p:sp>
      <p:sp>
        <p:nvSpPr>
          <p:cNvPr id="142" name="Google Shape;142;p14"/>
          <p:cNvSpPr txBox="1"/>
          <p:nvPr/>
        </p:nvSpPr>
        <p:spPr>
          <a:xfrm>
            <a:off x="4882045" y="5945430"/>
            <a:ext cx="2444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3" name="Google Shape;143;p14"/>
          <p:cNvSpPr txBox="1"/>
          <p:nvPr/>
        </p:nvSpPr>
        <p:spPr>
          <a:xfrm>
            <a:off x="6880550" y="5548338"/>
            <a:ext cx="24444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b="0" i="0" u="none" strike="noStrike">
                <a:solidFill>
                  <a:srgbClr val="000000"/>
                </a:solidFill>
                <a:latin typeface="Arial"/>
                <a:ea typeface="Arial"/>
                <a:cs typeface="Arial"/>
                <a:sym typeface="Arial"/>
              </a:rPr>
              <a:t>Name: Eshita Sahu</a:t>
            </a:r>
            <a:endParaRPr/>
          </a:p>
          <a:p>
            <a:pPr marL="0" marR="0" lvl="0" indent="0" algn="l" rtl="0">
              <a:spcBef>
                <a:spcPts val="0"/>
              </a:spcBef>
              <a:spcAft>
                <a:spcPts val="0"/>
              </a:spcAft>
              <a:buNone/>
            </a:pPr>
            <a:r>
              <a:rPr lang="en-IN" sz="1400">
                <a:solidFill>
                  <a:srgbClr val="000000"/>
                </a:solidFill>
                <a:latin typeface="Arial"/>
                <a:ea typeface="Arial"/>
                <a:cs typeface="Arial"/>
                <a:sym typeface="Arial"/>
              </a:rPr>
              <a:t>USN: 1</a:t>
            </a:r>
            <a:r>
              <a:rPr lang="en-IN"/>
              <a:t>RV24IS036</a:t>
            </a:r>
            <a:endParaRPr sz="1400">
              <a:solidFill>
                <a:schemeClr val="dk1"/>
              </a:solidFill>
              <a:latin typeface="Calibri"/>
              <a:ea typeface="Calibri"/>
              <a:cs typeface="Calibri"/>
              <a:sym typeface="Calibri"/>
            </a:endParaRPr>
          </a:p>
        </p:txBody>
      </p:sp>
      <p:pic>
        <p:nvPicPr>
          <p:cNvPr id="144" name="Google Shape;144;p14" title="WhatsApp Image 2025-06-20 at 18.51.52.jpeg"/>
          <p:cNvPicPr preferRelativeResize="0"/>
          <p:nvPr/>
        </p:nvPicPr>
        <p:blipFill rotWithShape="1">
          <a:blip r:embed="rId4">
            <a:alphaModFix/>
          </a:blip>
          <a:srcRect t="13458" b="-8"/>
          <a:stretch/>
        </p:blipFill>
        <p:spPr>
          <a:xfrm>
            <a:off x="4676900" y="650949"/>
            <a:ext cx="1997349" cy="2304850"/>
          </a:xfrm>
          <a:prstGeom prst="rect">
            <a:avLst/>
          </a:prstGeom>
          <a:noFill/>
          <a:ln>
            <a:noFill/>
          </a:ln>
        </p:spPr>
      </p:pic>
      <p:pic>
        <p:nvPicPr>
          <p:cNvPr id="145" name="Google Shape;145;p14" title="WhatsApp Image 2025-06-21 at 18.45.39.jpeg"/>
          <p:cNvPicPr preferRelativeResize="0"/>
          <p:nvPr/>
        </p:nvPicPr>
        <p:blipFill rotWithShape="1">
          <a:blip r:embed="rId5">
            <a:alphaModFix/>
          </a:blip>
          <a:srcRect l="4413" t="-5520" r="8697" b="5519"/>
          <a:stretch/>
        </p:blipFill>
        <p:spPr>
          <a:xfrm>
            <a:off x="6880550" y="2922325"/>
            <a:ext cx="2186175" cy="2565625"/>
          </a:xfrm>
          <a:prstGeom prst="rect">
            <a:avLst/>
          </a:prstGeom>
          <a:noFill/>
          <a:ln>
            <a:noFill/>
          </a:ln>
        </p:spPr>
      </p:pic>
      <p:pic>
        <p:nvPicPr>
          <p:cNvPr id="146" name="Google Shape;146;p14"/>
          <p:cNvPicPr preferRelativeResize="0"/>
          <p:nvPr/>
        </p:nvPicPr>
        <p:blipFill rotWithShape="1">
          <a:blip r:embed="rId6">
            <a:alphaModFix/>
          </a:blip>
          <a:srcRect t="6156" r="7235"/>
          <a:stretch/>
        </p:blipFill>
        <p:spPr>
          <a:xfrm>
            <a:off x="9273025" y="599588"/>
            <a:ext cx="2186174" cy="24075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Monday, 23 June 2025</a:t>
            </a:r>
            <a:endParaRPr/>
          </a:p>
        </p:txBody>
      </p:sp>
      <p:sp>
        <p:nvSpPr>
          <p:cNvPr id="152" name="Google Shape;152;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53" name="Google Shape;153;p15"/>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54" name="Google Shape;154;p15"/>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IDEA LAB Phase-1 &amp; 2</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55" name="Google Shape;155;p15"/>
          <p:cNvSpPr txBox="1">
            <a:spLocks noGrp="1"/>
          </p:cNvSpPr>
          <p:nvPr>
            <p:ph type="body" idx="1"/>
          </p:nvPr>
        </p:nvSpPr>
        <p:spPr>
          <a:xfrm>
            <a:off x="575725" y="1409700"/>
            <a:ext cx="11335200" cy="50148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a:t>Introduction</a:t>
            </a:r>
            <a:endParaRPr/>
          </a:p>
          <a:p>
            <a:pPr marL="228600" lvl="0" indent="-228600" algn="l" rtl="0">
              <a:lnSpc>
                <a:spcPct val="90000"/>
              </a:lnSpc>
              <a:spcBef>
                <a:spcPts val="1000"/>
              </a:spcBef>
              <a:spcAft>
                <a:spcPts val="0"/>
              </a:spcAft>
              <a:buClr>
                <a:srgbClr val="002060"/>
              </a:buClr>
              <a:buSzPts val="2800"/>
              <a:buChar char="•"/>
            </a:pPr>
            <a:r>
              <a:rPr lang="en-IN"/>
              <a:t>Literature Review</a:t>
            </a:r>
            <a:endParaRPr/>
          </a:p>
          <a:p>
            <a:pPr marL="228600" lvl="0" indent="-228600" algn="l" rtl="0">
              <a:lnSpc>
                <a:spcPct val="90000"/>
              </a:lnSpc>
              <a:spcBef>
                <a:spcPts val="1000"/>
              </a:spcBef>
              <a:spcAft>
                <a:spcPts val="0"/>
              </a:spcAft>
              <a:buClr>
                <a:srgbClr val="002060"/>
              </a:buClr>
              <a:buSzPts val="2800"/>
              <a:buChar char="•"/>
            </a:pPr>
            <a:r>
              <a:rPr lang="en-IN"/>
              <a:t>Problem Definition</a:t>
            </a:r>
            <a:endParaRPr/>
          </a:p>
          <a:p>
            <a:pPr marL="228600" lvl="0" indent="-228600" algn="l" rtl="0">
              <a:lnSpc>
                <a:spcPct val="90000"/>
              </a:lnSpc>
              <a:spcBef>
                <a:spcPts val="1000"/>
              </a:spcBef>
              <a:spcAft>
                <a:spcPts val="0"/>
              </a:spcAft>
              <a:buClr>
                <a:srgbClr val="002060"/>
              </a:buClr>
              <a:buSzPts val="2800"/>
              <a:buChar char="•"/>
            </a:pPr>
            <a:r>
              <a:rPr lang="en-IN"/>
              <a:t>System Design and Architecture</a:t>
            </a:r>
            <a:endParaRPr/>
          </a:p>
          <a:p>
            <a:pPr marL="228600" lvl="0" indent="-228600" algn="l" rtl="0">
              <a:lnSpc>
                <a:spcPct val="90000"/>
              </a:lnSpc>
              <a:spcBef>
                <a:spcPts val="1000"/>
              </a:spcBef>
              <a:spcAft>
                <a:spcPts val="0"/>
              </a:spcAft>
              <a:buClr>
                <a:srgbClr val="002060"/>
              </a:buClr>
              <a:buSzPts val="2800"/>
              <a:buChar char="•"/>
            </a:pPr>
            <a:r>
              <a:rPr lang="en-IN"/>
              <a:t>Hardware and Software Implementation</a:t>
            </a:r>
            <a:endParaRPr/>
          </a:p>
          <a:p>
            <a:pPr marL="228600" lvl="0" indent="-228600" algn="l" rtl="0">
              <a:lnSpc>
                <a:spcPct val="90000"/>
              </a:lnSpc>
              <a:spcBef>
                <a:spcPts val="1000"/>
              </a:spcBef>
              <a:spcAft>
                <a:spcPts val="0"/>
              </a:spcAft>
              <a:buClr>
                <a:srgbClr val="002060"/>
              </a:buClr>
              <a:buSzPts val="2800"/>
              <a:buChar char="•"/>
            </a:pPr>
            <a:r>
              <a:rPr lang="en-IN"/>
              <a:t>Experimental Setup</a:t>
            </a:r>
            <a:endParaRPr/>
          </a:p>
          <a:p>
            <a:pPr marL="228600" lvl="0" indent="-228600" algn="l" rtl="0">
              <a:lnSpc>
                <a:spcPct val="90000"/>
              </a:lnSpc>
              <a:spcBef>
                <a:spcPts val="1000"/>
              </a:spcBef>
              <a:spcAft>
                <a:spcPts val="0"/>
              </a:spcAft>
              <a:buClr>
                <a:srgbClr val="002060"/>
              </a:buClr>
              <a:buSzPts val="2800"/>
              <a:buChar char="•"/>
            </a:pPr>
            <a:r>
              <a:rPr lang="en-IN"/>
              <a:t>Results &amp; Discussion</a:t>
            </a:r>
            <a:endParaRPr/>
          </a:p>
          <a:p>
            <a:pPr marL="228600" lvl="0" indent="-228600" algn="l" rtl="0">
              <a:lnSpc>
                <a:spcPct val="90000"/>
              </a:lnSpc>
              <a:spcBef>
                <a:spcPts val="1000"/>
              </a:spcBef>
              <a:spcAft>
                <a:spcPts val="0"/>
              </a:spcAft>
              <a:buClr>
                <a:srgbClr val="002060"/>
              </a:buClr>
              <a:buSzPts val="2800"/>
              <a:buChar char="•"/>
            </a:pPr>
            <a:r>
              <a:rPr lang="en-IN"/>
              <a:t>Conclusion &amp; Future Work</a:t>
            </a:r>
            <a:endParaRPr/>
          </a:p>
          <a:p>
            <a:pPr marL="228600" lvl="0" indent="-228600" algn="l" rtl="0">
              <a:lnSpc>
                <a:spcPct val="90000"/>
              </a:lnSpc>
              <a:spcBef>
                <a:spcPts val="1000"/>
              </a:spcBef>
              <a:spcAft>
                <a:spcPts val="0"/>
              </a:spcAft>
              <a:buClr>
                <a:srgbClr val="002060"/>
              </a:buClr>
              <a:buSzPts val="2800"/>
              <a:buChar char="•"/>
            </a:pPr>
            <a:r>
              <a:rPr lang="en-IN"/>
              <a:t>References</a:t>
            </a:r>
            <a:endParaRPr/>
          </a:p>
          <a:p>
            <a:pPr marL="228600" lvl="0" indent="-228600" algn="l" rtl="0">
              <a:lnSpc>
                <a:spcPct val="90000"/>
              </a:lnSpc>
              <a:spcBef>
                <a:spcPts val="1000"/>
              </a:spcBef>
              <a:spcAft>
                <a:spcPts val="0"/>
              </a:spcAft>
              <a:buClr>
                <a:srgbClr val="002060"/>
              </a:buClr>
              <a:buSzPts val="2800"/>
              <a:buChar char="•"/>
            </a:pPr>
            <a:r>
              <a:rPr lang="en-IN"/>
              <a:t>Appendices – Arduino code snippets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body" idx="1"/>
          </p:nvPr>
        </p:nvSpPr>
        <p:spPr>
          <a:xfrm>
            <a:off x="174750" y="1088425"/>
            <a:ext cx="11842500" cy="57696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3008" dirty="0"/>
              <a:t>Introduction:</a:t>
            </a:r>
            <a:endParaRPr sz="3008" dirty="0"/>
          </a:p>
          <a:p>
            <a:pPr marL="0" lvl="0" indent="0" algn="just" rtl="0">
              <a:lnSpc>
                <a:spcPct val="115000"/>
              </a:lnSpc>
              <a:spcBef>
                <a:spcPts val="1200"/>
              </a:spcBef>
              <a:spcAft>
                <a:spcPts val="0"/>
              </a:spcAft>
              <a:buClr>
                <a:schemeClr val="dk1"/>
              </a:buClr>
              <a:buSzPts val="1100"/>
              <a:buFont typeface="Arial"/>
              <a:buNone/>
            </a:pPr>
            <a:r>
              <a:rPr lang="en-IN" sz="2000" dirty="0"/>
              <a:t>Security in residential and commercial spaces often suffers due to the limitations of traditional locks, such as key loss, duplication, and tampering. This project proposes an RFID and Bluetooth-based smart locking system using Arduino UNO and a servo motor to provide secure and convenient access through tag authentication and a Bluetooth device in case tag is not available. Designed as a low-cost, customizable solution for non-critical applications like personal lockers or classroom cabinets, the system uses easily available components and works offline for simplicity and reliability. It also lays the groundwork for future upgrades such as GSM alerts, biometric authentication, or IoT integration.</a:t>
            </a:r>
            <a:endParaRPr sz="2000" dirty="0"/>
          </a:p>
          <a:p>
            <a:pPr marL="0" lvl="0" indent="0" algn="l" rtl="0">
              <a:spcBef>
                <a:spcPts val="1200"/>
              </a:spcBef>
              <a:spcAft>
                <a:spcPts val="0"/>
              </a:spcAft>
              <a:buNone/>
            </a:pPr>
            <a:endParaRPr sz="1900" dirty="0"/>
          </a:p>
        </p:txBody>
      </p:sp>
      <p:sp>
        <p:nvSpPr>
          <p:cNvPr id="162" name="Google Shape;162;p16"/>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7"/>
          <p:cNvSpPr txBox="1">
            <a:spLocks noGrp="1"/>
          </p:cNvSpPr>
          <p:nvPr>
            <p:ph type="body" idx="1"/>
          </p:nvPr>
        </p:nvSpPr>
        <p:spPr>
          <a:xfrm>
            <a:off x="174825" y="1088425"/>
            <a:ext cx="11842500" cy="5663400"/>
          </a:xfrm>
          <a:prstGeom prst="rect">
            <a:avLst/>
          </a:prstGeom>
        </p:spPr>
        <p:txBody>
          <a:bodyPr spcFirstLastPara="1" wrap="square" lIns="91425" tIns="45700" rIns="91425" bIns="45700" anchor="t" anchorCtr="0">
            <a:normAutofit fontScale="55000" lnSpcReduction="20000"/>
          </a:bodyPr>
          <a:lstStyle/>
          <a:p>
            <a:pPr marL="0" lvl="0" indent="0" algn="l" rtl="0">
              <a:spcBef>
                <a:spcPts val="1000"/>
              </a:spcBef>
              <a:spcAft>
                <a:spcPts val="0"/>
              </a:spcAft>
              <a:buNone/>
            </a:pPr>
            <a:r>
              <a:rPr lang="en-IN" sz="6510" dirty="0"/>
              <a:t>Literature Review:</a:t>
            </a:r>
            <a:r>
              <a:rPr lang="en-IN" sz="6300" dirty="0"/>
              <a:t> </a:t>
            </a:r>
            <a:endParaRPr sz="6300" dirty="0"/>
          </a:p>
          <a:p>
            <a:pPr marL="0" lvl="0" indent="0" algn="just" rtl="0">
              <a:lnSpc>
                <a:spcPct val="115000"/>
              </a:lnSpc>
              <a:spcBef>
                <a:spcPts val="1200"/>
              </a:spcBef>
              <a:spcAft>
                <a:spcPts val="0"/>
              </a:spcAft>
              <a:buClr>
                <a:schemeClr val="dk1"/>
              </a:buClr>
              <a:buSzPct val="28458"/>
              <a:buFont typeface="Arial"/>
              <a:buNone/>
            </a:pPr>
            <a:r>
              <a:rPr lang="en-IN" sz="3865" dirty="0"/>
              <a:t>RFID-based security systems have gained significant popularity due to their contactless operation, ease of integration, and cost-effectiveness. Typically comprising an RFID reader, programmable tags, and a controller such as Arduino or Raspberry Pi, these systems authenticate users by reading a tag’s unique ID and verifying it against stored data. For instance, T.S. Rappaport (2022) offered foundational insights into RFID technologies, A. Sharma (2023) demonstrated beginner-level Arduino applications, and M. Patel (2023) expanded upon these by integrating RFID with IoT for smart home systems. Despite this, current solutions show several gaps, including high cost and complexity in advanced models, limited flexibility for educational or small-scale use, lack of entry-level systems with realistic lock mechanisms, and minimal modularity for future upgrades like IoT or biometric integration. This review underscores the need for a cost-effective, customizable, and modular RFID-based locking prototype, aimed at educational and practical applications. The proposed project seeks to fill this gap by offering a simple yet scalable system that supports hands-on learning and potential real-world deployment.</a:t>
            </a:r>
            <a:endParaRPr sz="3865" dirty="0"/>
          </a:p>
          <a:p>
            <a:pPr marL="0" lvl="0" indent="0" algn="just" rtl="0">
              <a:spcBef>
                <a:spcPts val="1200"/>
              </a:spcBef>
              <a:spcAft>
                <a:spcPts val="0"/>
              </a:spcAft>
              <a:buNone/>
            </a:pPr>
            <a:endParaRPr sz="3865" dirty="0"/>
          </a:p>
        </p:txBody>
      </p:sp>
      <p:sp>
        <p:nvSpPr>
          <p:cNvPr id="169" name="Google Shape;169;p17"/>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8"/>
          <p:cNvSpPr txBox="1">
            <a:spLocks noGrp="1"/>
          </p:cNvSpPr>
          <p:nvPr>
            <p:ph type="body" idx="1"/>
          </p:nvPr>
        </p:nvSpPr>
        <p:spPr>
          <a:xfrm>
            <a:off x="174813" y="1258282"/>
            <a:ext cx="11842500" cy="4918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3050" dirty="0"/>
              <a:t>Problem Definition: </a:t>
            </a:r>
            <a:endParaRPr sz="3050" dirty="0"/>
          </a:p>
          <a:p>
            <a:pPr marL="0" lvl="0" indent="0" algn="just">
              <a:lnSpc>
                <a:spcPct val="115000"/>
              </a:lnSpc>
              <a:spcBef>
                <a:spcPts val="1200"/>
              </a:spcBef>
              <a:buClr>
                <a:schemeClr val="dk1"/>
              </a:buClr>
              <a:buSzPts val="1100"/>
              <a:buNone/>
            </a:pPr>
            <a:r>
              <a:rPr lang="en-US" sz="2000" dirty="0"/>
              <a:t>Traditional RFID-based door locking systems face limitations such as reliance on physical RFID tags for access, which can lead to inconvenience and safety concerns if tags are lost or forgotten. In shared access environments like hostels or apartments, this can disrupt normal operations and compromise security.</a:t>
            </a:r>
            <a:endParaRPr sz="2000" dirty="0"/>
          </a:p>
        </p:txBody>
      </p:sp>
      <p:sp>
        <p:nvSpPr>
          <p:cNvPr id="176" name="Google Shape;176;p18"/>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9"/>
          <p:cNvSpPr txBox="1">
            <a:spLocks noGrp="1"/>
          </p:cNvSpPr>
          <p:nvPr>
            <p:ph type="body" idx="1"/>
          </p:nvPr>
        </p:nvSpPr>
        <p:spPr>
          <a:xfrm>
            <a:off x="174813" y="1258282"/>
            <a:ext cx="11842500" cy="4918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3000"/>
              <a:t>System Design and Architecture: </a:t>
            </a:r>
            <a:endParaRPr sz="3000"/>
          </a:p>
          <a:p>
            <a:pPr marL="0" lvl="0" indent="0" algn="l" rtl="0">
              <a:spcBef>
                <a:spcPts val="1000"/>
              </a:spcBef>
              <a:spcAft>
                <a:spcPts val="0"/>
              </a:spcAft>
              <a:buNone/>
            </a:pPr>
            <a:endParaRPr sz="3000"/>
          </a:p>
        </p:txBody>
      </p:sp>
      <p:sp>
        <p:nvSpPr>
          <p:cNvPr id="183" name="Google Shape;183;p19"/>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pic>
        <p:nvPicPr>
          <p:cNvPr id="184" name="Google Shape;184;p19" title="WhatsApp Image 2025-06-21 at 19.30.23.jpeg"/>
          <p:cNvPicPr preferRelativeResize="0"/>
          <p:nvPr/>
        </p:nvPicPr>
        <p:blipFill>
          <a:blip r:embed="rId3">
            <a:alphaModFix/>
          </a:blip>
          <a:stretch>
            <a:fillRect/>
          </a:stretch>
        </p:blipFill>
        <p:spPr>
          <a:xfrm>
            <a:off x="238925" y="1864600"/>
            <a:ext cx="8229600" cy="3966900"/>
          </a:xfrm>
          <a:prstGeom prst="rect">
            <a:avLst/>
          </a:prstGeom>
          <a:noFill/>
          <a:ln>
            <a:noFill/>
          </a:ln>
        </p:spPr>
      </p:pic>
      <p:sp>
        <p:nvSpPr>
          <p:cNvPr id="185" name="Google Shape;185;p19"/>
          <p:cNvSpPr txBox="1"/>
          <p:nvPr/>
        </p:nvSpPr>
        <p:spPr>
          <a:xfrm>
            <a:off x="8734000" y="1864600"/>
            <a:ext cx="2973300" cy="38052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IN" sz="1200">
                <a:solidFill>
                  <a:srgbClr val="002060"/>
                </a:solidFill>
                <a:latin typeface="Bookman Old Style"/>
                <a:ea typeface="Bookman Old Style"/>
                <a:cs typeface="Bookman Old Style"/>
                <a:sym typeface="Bookman Old Style"/>
              </a:rPr>
              <a:t>This circuit diagram illustrates an RFID-based smart locking system using Arduino UNO. The RFID reader (RC522) scans tags and sends data to the Arduino, which then activates a relay to control a solenoid lock if the tag is authorized. A buzzer and LED provide feedback for access status. The system is powered by a rechargeable battery pack regulated through a 7805 voltage regulator and managed by a TP4056 charging module. An optional AC-DC converter allows mains power use, making the setup reliable, low-cost, and ideal for secure access in lockers or cabinets.</a:t>
            </a:r>
            <a:endParaRPr sz="1200">
              <a:solidFill>
                <a:srgbClr val="002060"/>
              </a:solidFill>
              <a:latin typeface="Bookman Old Style"/>
              <a:ea typeface="Bookman Old Style"/>
              <a:cs typeface="Bookman Old Style"/>
              <a:sym typeface="Bookman Old Style"/>
            </a:endParaRPr>
          </a:p>
          <a:p>
            <a:pPr marL="0" lvl="0" indent="0" algn="l" rtl="0">
              <a:spcBef>
                <a:spcPts val="1200"/>
              </a:spcBef>
              <a:spcAft>
                <a:spcPts val="0"/>
              </a:spcAft>
              <a:buNone/>
            </a:pP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0"/>
          <p:cNvSpPr txBox="1">
            <a:spLocks noGrp="1"/>
          </p:cNvSpPr>
          <p:nvPr>
            <p:ph type="body" idx="1"/>
          </p:nvPr>
        </p:nvSpPr>
        <p:spPr>
          <a:xfrm>
            <a:off x="174825" y="1258275"/>
            <a:ext cx="11842500" cy="5042100"/>
          </a:xfrm>
          <a:prstGeom prst="rect">
            <a:avLst/>
          </a:prstGeom>
        </p:spPr>
        <p:txBody>
          <a:bodyPr spcFirstLastPara="1" wrap="square" lIns="91425" tIns="45700" rIns="91425" bIns="45700" anchor="t" anchorCtr="0">
            <a:normAutofit fontScale="25000" lnSpcReduction="20000"/>
          </a:bodyPr>
          <a:lstStyle/>
          <a:p>
            <a:pPr marL="0" lvl="0" indent="0" algn="l" rtl="0">
              <a:spcBef>
                <a:spcPts val="1000"/>
              </a:spcBef>
              <a:spcAft>
                <a:spcPts val="0"/>
              </a:spcAft>
              <a:buNone/>
            </a:pPr>
            <a:r>
              <a:rPr lang="en-IN" sz="12000" dirty="0"/>
              <a:t>Hardware and Software Implementation: </a:t>
            </a:r>
            <a:endParaRPr sz="12000" dirty="0"/>
          </a:p>
          <a:p>
            <a:pPr marL="0" lvl="0" indent="0" algn="l" rtl="0">
              <a:spcBef>
                <a:spcPts val="1000"/>
              </a:spcBef>
              <a:spcAft>
                <a:spcPts val="0"/>
              </a:spcAft>
              <a:buNone/>
            </a:pPr>
            <a:endParaRPr sz="5023" dirty="0"/>
          </a:p>
          <a:p>
            <a:pPr marL="0" lvl="0" indent="0" algn="just" rtl="0">
              <a:spcBef>
                <a:spcPts val="1000"/>
              </a:spcBef>
              <a:spcAft>
                <a:spcPts val="0"/>
              </a:spcAft>
              <a:buNone/>
            </a:pPr>
            <a:r>
              <a:rPr lang="en-IN" sz="5823" b="1" dirty="0" err="1"/>
              <a:t>i</a:t>
            </a:r>
            <a:r>
              <a:rPr lang="en-IN" sz="5823" b="1" dirty="0"/>
              <a:t>)Arduino UNO:</a:t>
            </a:r>
            <a:r>
              <a:rPr lang="en-IN" sz="5023" dirty="0"/>
              <a:t> </a:t>
            </a:r>
            <a:r>
              <a:rPr lang="en-IN" sz="5423" dirty="0"/>
              <a:t>The brain of the system. It runs the code written, handles communication with the RFID reader, checks the card UID, and controls the buzzer, LEDs, relay, and solenoid lock based on access rules.</a:t>
            </a:r>
            <a:endParaRPr sz="5423" dirty="0"/>
          </a:p>
          <a:p>
            <a:pPr marL="0" lvl="0" indent="0" algn="just" rtl="0">
              <a:spcBef>
                <a:spcPts val="1000"/>
              </a:spcBef>
              <a:spcAft>
                <a:spcPts val="0"/>
              </a:spcAft>
              <a:buNone/>
            </a:pPr>
            <a:r>
              <a:rPr lang="en-IN" sz="5823" b="1" dirty="0"/>
              <a:t>ii)RFID Reader Module:</a:t>
            </a:r>
            <a:r>
              <a:rPr lang="en-IN" sz="5023" dirty="0"/>
              <a:t> </a:t>
            </a:r>
            <a:r>
              <a:rPr lang="en-IN" sz="5423" dirty="0"/>
              <a:t>Reads data from RFID tags/cards. Communicates the card’s unique ID (UID) to the Arduino via SPI protocol.</a:t>
            </a:r>
            <a:endParaRPr sz="5423" dirty="0"/>
          </a:p>
          <a:p>
            <a:pPr marL="0" lvl="0" indent="0" algn="just" rtl="0">
              <a:spcBef>
                <a:spcPts val="1000"/>
              </a:spcBef>
              <a:spcAft>
                <a:spcPts val="0"/>
              </a:spcAft>
              <a:buNone/>
            </a:pPr>
            <a:r>
              <a:rPr lang="en-IN" sz="5823" b="1" dirty="0"/>
              <a:t>iii) RFID Tag:</a:t>
            </a:r>
            <a:r>
              <a:rPr lang="en-IN" sz="5023" dirty="0"/>
              <a:t> </a:t>
            </a:r>
            <a:r>
              <a:rPr lang="en-IN" sz="5423" dirty="0"/>
              <a:t>The ‘key’ for the system. Each tag has a unique ID. If the ID matches the allowed ID in the code, access is granted.</a:t>
            </a:r>
            <a:endParaRPr sz="5423" dirty="0"/>
          </a:p>
          <a:p>
            <a:pPr marL="0" lvl="0" indent="0" algn="just" rtl="0">
              <a:spcBef>
                <a:spcPts val="1000"/>
              </a:spcBef>
              <a:spcAft>
                <a:spcPts val="0"/>
              </a:spcAft>
              <a:buNone/>
            </a:pPr>
            <a:r>
              <a:rPr lang="en-IN" sz="5823" b="1" dirty="0"/>
              <a:t>iv) Buzzer:</a:t>
            </a:r>
            <a:r>
              <a:rPr lang="en-IN" sz="5023" dirty="0"/>
              <a:t> </a:t>
            </a:r>
            <a:r>
              <a:rPr lang="en-IN" sz="5423" dirty="0"/>
              <a:t>Gives audible feedback. Beeps when access is denied. Controlled by Arduino pin 2 in the code.</a:t>
            </a:r>
            <a:endParaRPr sz="5423" dirty="0"/>
          </a:p>
          <a:p>
            <a:pPr marL="0" lvl="0" indent="0" algn="just" rtl="0">
              <a:spcBef>
                <a:spcPts val="1000"/>
              </a:spcBef>
              <a:spcAft>
                <a:spcPts val="0"/>
              </a:spcAft>
              <a:buNone/>
            </a:pPr>
            <a:r>
              <a:rPr lang="en-IN" sz="5823" b="1" dirty="0"/>
              <a:t>v) 5V Relay Module:</a:t>
            </a:r>
            <a:r>
              <a:rPr lang="en-IN" sz="5023" dirty="0"/>
              <a:t> </a:t>
            </a:r>
            <a:r>
              <a:rPr lang="en-IN" sz="5423" dirty="0"/>
              <a:t>Works like a switch to control high-power devices (solenoid lock) using the low-power Arduino output. Relay pin controlled by pin 3 in the code. When activated, it closes the circuit to power the solenoid lock.</a:t>
            </a:r>
            <a:endParaRPr sz="5423" dirty="0"/>
          </a:p>
          <a:p>
            <a:pPr marL="0" lvl="0" indent="0" algn="just" rtl="0">
              <a:spcBef>
                <a:spcPts val="1000"/>
              </a:spcBef>
              <a:spcAft>
                <a:spcPts val="0"/>
              </a:spcAft>
              <a:buNone/>
            </a:pPr>
            <a:r>
              <a:rPr lang="en-IN" sz="5823" b="1" dirty="0"/>
              <a:t>vi) Solenoidal Lock:</a:t>
            </a:r>
            <a:r>
              <a:rPr lang="en-IN" sz="5023" dirty="0"/>
              <a:t> </a:t>
            </a:r>
            <a:r>
              <a:rPr lang="en-IN" sz="5423" dirty="0"/>
              <a:t>The actual door lock. Normally locked. When relay activates, it unlocks, letting the door open.</a:t>
            </a:r>
            <a:endParaRPr sz="5423" dirty="0"/>
          </a:p>
          <a:p>
            <a:pPr marL="0" lvl="0" indent="0" algn="just" rtl="0">
              <a:spcBef>
                <a:spcPts val="1000"/>
              </a:spcBef>
              <a:spcAft>
                <a:spcPts val="0"/>
              </a:spcAft>
              <a:buNone/>
            </a:pPr>
            <a:r>
              <a:rPr lang="en-IN" sz="5823" b="1" dirty="0"/>
              <a:t>vii) 7805 Regulator:</a:t>
            </a:r>
            <a:r>
              <a:rPr lang="en-IN" sz="5423" dirty="0"/>
              <a:t> Voltage regulator. Converts higher battery voltage to stable 5V for Arduino &amp; peripherals.</a:t>
            </a:r>
            <a:endParaRPr sz="5423" dirty="0"/>
          </a:p>
          <a:p>
            <a:pPr marL="0" lvl="0" indent="0" algn="just" rtl="0">
              <a:spcBef>
                <a:spcPts val="1000"/>
              </a:spcBef>
              <a:spcAft>
                <a:spcPts val="0"/>
              </a:spcAft>
              <a:buNone/>
            </a:pPr>
            <a:r>
              <a:rPr lang="en-IN" sz="5823" b="1" dirty="0"/>
              <a:t>viii) Switch:</a:t>
            </a:r>
            <a:r>
              <a:rPr lang="en-IN" sz="5023" dirty="0"/>
              <a:t> </a:t>
            </a:r>
            <a:r>
              <a:rPr lang="en-IN" sz="5423" dirty="0"/>
              <a:t>Manual ON/OFF for the whole circuit. Acts as a master power switch.</a:t>
            </a:r>
            <a:endParaRPr sz="5423" dirty="0"/>
          </a:p>
          <a:p>
            <a:pPr marL="0" lvl="0" indent="0" algn="just" rtl="0">
              <a:spcBef>
                <a:spcPts val="1000"/>
              </a:spcBef>
              <a:spcAft>
                <a:spcPts val="0"/>
              </a:spcAft>
              <a:buNone/>
            </a:pPr>
            <a:r>
              <a:rPr lang="en-IN" sz="5823" b="1" dirty="0"/>
              <a:t>ix) 18650 Rechargeable Batteries (x3):</a:t>
            </a:r>
            <a:r>
              <a:rPr lang="en-IN" sz="5023" dirty="0"/>
              <a:t> </a:t>
            </a:r>
            <a:r>
              <a:rPr lang="en-IN" sz="5423" dirty="0"/>
              <a:t>Power supply. 3 cells provide enough voltage &amp; current for the whole system, including the solenoid lock.</a:t>
            </a:r>
            <a:endParaRPr sz="5423" dirty="0"/>
          </a:p>
          <a:p>
            <a:pPr marL="0" lvl="0" indent="0" algn="just" rtl="0">
              <a:spcBef>
                <a:spcPts val="1000"/>
              </a:spcBef>
              <a:spcAft>
                <a:spcPts val="0"/>
              </a:spcAft>
              <a:buNone/>
            </a:pPr>
            <a:r>
              <a:rPr lang="en-IN" sz="5823" b="1" dirty="0"/>
              <a:t>x) MT3608 Booster:</a:t>
            </a:r>
            <a:r>
              <a:rPr lang="en-IN" sz="5023" dirty="0"/>
              <a:t> </a:t>
            </a:r>
            <a:r>
              <a:rPr lang="en-IN" sz="5423" dirty="0"/>
              <a:t>Boosts voltage when needed to maintain stable operation (optional here, but can help maintain voltage under load).</a:t>
            </a:r>
            <a:endParaRPr sz="5423" dirty="0"/>
          </a:p>
          <a:p>
            <a:pPr marL="0" lvl="0" indent="0" algn="just" rtl="0">
              <a:spcBef>
                <a:spcPts val="1000"/>
              </a:spcBef>
              <a:spcAft>
                <a:spcPts val="0"/>
              </a:spcAft>
              <a:buNone/>
            </a:pPr>
            <a:r>
              <a:rPr lang="en-IN" sz="5823" b="1" dirty="0"/>
              <a:t>xi) TP4056 Charging Module:</a:t>
            </a:r>
            <a:r>
              <a:rPr lang="en-IN" sz="5023" dirty="0"/>
              <a:t> </a:t>
            </a:r>
            <a:r>
              <a:rPr lang="en-IN" sz="5423" dirty="0"/>
              <a:t>Used to charge the 18650 batteries safely via USB.</a:t>
            </a:r>
          </a:p>
          <a:p>
            <a:pPr marL="0" lvl="0" indent="0" algn="just">
              <a:buNone/>
            </a:pPr>
            <a:r>
              <a:rPr lang="en-IN" sz="6000" b="1" dirty="0"/>
              <a:t>xii) </a:t>
            </a:r>
            <a:r>
              <a:rPr lang="en-US" sz="6000" b="1" dirty="0"/>
              <a:t>HC-05 Bluetooth module: </a:t>
            </a:r>
            <a:r>
              <a:rPr lang="en-US" sz="5600" dirty="0"/>
              <a:t>It is connected </a:t>
            </a:r>
            <a:r>
              <a:rPr lang="en-US" sz="5423" dirty="0"/>
              <a:t>to the Arduino to receive commands from a mobile device.</a:t>
            </a:r>
            <a:endParaRPr sz="5423" dirty="0"/>
          </a:p>
          <a:p>
            <a:pPr marL="0" lvl="0" indent="0" algn="l" rtl="0">
              <a:spcBef>
                <a:spcPts val="1000"/>
              </a:spcBef>
              <a:spcAft>
                <a:spcPts val="0"/>
              </a:spcAft>
              <a:buNone/>
            </a:pPr>
            <a:endParaRPr sz="5423" dirty="0"/>
          </a:p>
          <a:p>
            <a:pPr marL="0" lvl="0" indent="0" algn="l" rtl="0">
              <a:spcBef>
                <a:spcPts val="1000"/>
              </a:spcBef>
              <a:spcAft>
                <a:spcPts val="0"/>
              </a:spcAft>
              <a:buNone/>
            </a:pPr>
            <a:endParaRPr sz="5023" dirty="0"/>
          </a:p>
          <a:p>
            <a:pPr marL="0" lvl="0" indent="0" algn="l" rtl="0">
              <a:spcBef>
                <a:spcPts val="1000"/>
              </a:spcBef>
              <a:spcAft>
                <a:spcPts val="0"/>
              </a:spcAft>
              <a:buNone/>
            </a:pPr>
            <a:endParaRPr sz="5023" dirty="0"/>
          </a:p>
          <a:p>
            <a:pPr marL="0" lvl="0" indent="0" algn="l" rtl="0">
              <a:spcBef>
                <a:spcPts val="1000"/>
              </a:spcBef>
              <a:spcAft>
                <a:spcPts val="0"/>
              </a:spcAft>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Clr>
                <a:schemeClr val="dk1"/>
              </a:buClr>
              <a:buSzPct val="91666"/>
              <a:buFont typeface="Arial"/>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Clr>
                <a:schemeClr val="dk1"/>
              </a:buClr>
              <a:buSzPct val="91666"/>
              <a:buFont typeface="Arial"/>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Clr>
                <a:schemeClr val="dk1"/>
              </a:buClr>
              <a:buSzPct val="91666"/>
              <a:buFont typeface="Arial"/>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Clr>
                <a:schemeClr val="dk1"/>
              </a:buClr>
              <a:buSzPct val="91666"/>
              <a:buFont typeface="Arial"/>
              <a:buNone/>
            </a:pPr>
            <a:endParaRPr sz="1200" dirty="0"/>
          </a:p>
          <a:p>
            <a:pPr marL="0" lvl="0" indent="0" algn="l" rtl="0">
              <a:spcBef>
                <a:spcPts val="1000"/>
              </a:spcBef>
              <a:spcAft>
                <a:spcPts val="0"/>
              </a:spcAft>
              <a:buNone/>
            </a:pPr>
            <a:endParaRPr sz="1200" dirty="0"/>
          </a:p>
          <a:p>
            <a:pPr marL="0" lvl="0" indent="0" algn="l" rtl="0">
              <a:spcBef>
                <a:spcPts val="1000"/>
              </a:spcBef>
              <a:spcAft>
                <a:spcPts val="0"/>
              </a:spcAft>
              <a:buClr>
                <a:schemeClr val="dk1"/>
              </a:buClr>
              <a:buSzPct val="39285"/>
              <a:buFont typeface="Arial"/>
              <a:buNone/>
            </a:pPr>
            <a:endParaRPr dirty="0"/>
          </a:p>
          <a:p>
            <a:pPr marL="0" lvl="0" indent="0" algn="l" rtl="0">
              <a:spcBef>
                <a:spcPts val="1000"/>
              </a:spcBef>
              <a:spcAft>
                <a:spcPts val="0"/>
              </a:spcAft>
              <a:buNone/>
            </a:pPr>
            <a:endParaRPr dirty="0"/>
          </a:p>
        </p:txBody>
      </p:sp>
      <p:sp>
        <p:nvSpPr>
          <p:cNvPr id="192" name="Google Shape;192;p20"/>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txBox="1">
            <a:spLocks noGrp="1"/>
          </p:cNvSpPr>
          <p:nvPr>
            <p:ph type="body" idx="1"/>
          </p:nvPr>
        </p:nvSpPr>
        <p:spPr>
          <a:xfrm>
            <a:off x="174813" y="1258282"/>
            <a:ext cx="11842500" cy="4918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3000"/>
              <a:t>Hardware and Software Implementation: </a:t>
            </a:r>
            <a:endParaRPr sz="3000"/>
          </a:p>
          <a:p>
            <a:pPr marL="0" lvl="0" indent="0" algn="l" rtl="0">
              <a:spcBef>
                <a:spcPts val="1000"/>
              </a:spcBef>
              <a:spcAft>
                <a:spcPts val="0"/>
              </a:spcAft>
              <a:buNone/>
            </a:pPr>
            <a:endParaRPr/>
          </a:p>
        </p:txBody>
      </p:sp>
      <p:sp>
        <p:nvSpPr>
          <p:cNvPr id="199" name="Google Shape;199;p21"/>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9</a:t>
            </a:fld>
            <a:endParaRPr/>
          </a:p>
        </p:txBody>
      </p:sp>
      <p:pic>
        <p:nvPicPr>
          <p:cNvPr id="200" name="Google Shape;200;p21" title="WhatsApp Image 2025-06-21 at 21.21.12.jpeg"/>
          <p:cNvPicPr preferRelativeResize="0"/>
          <p:nvPr/>
        </p:nvPicPr>
        <p:blipFill rotWithShape="1">
          <a:blip r:embed="rId3">
            <a:alphaModFix/>
          </a:blip>
          <a:srcRect r="931" b="6454"/>
          <a:stretch/>
        </p:blipFill>
        <p:spPr>
          <a:xfrm>
            <a:off x="174825" y="1797250"/>
            <a:ext cx="8246150" cy="4379825"/>
          </a:xfrm>
          <a:prstGeom prst="rect">
            <a:avLst/>
          </a:prstGeom>
          <a:noFill/>
          <a:ln>
            <a:noFill/>
          </a:ln>
        </p:spPr>
      </p:pic>
      <p:sp>
        <p:nvSpPr>
          <p:cNvPr id="201" name="Google Shape;201;p21"/>
          <p:cNvSpPr txBox="1"/>
          <p:nvPr/>
        </p:nvSpPr>
        <p:spPr>
          <a:xfrm>
            <a:off x="8601250" y="1424700"/>
            <a:ext cx="3282900" cy="4566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endParaRPr sz="1300">
              <a:solidFill>
                <a:srgbClr val="002060"/>
              </a:solidFill>
              <a:latin typeface="Bookman Old Style"/>
              <a:ea typeface="Bookman Old Style"/>
              <a:cs typeface="Bookman Old Style"/>
              <a:sym typeface="Bookman Old Style"/>
            </a:endParaRPr>
          </a:p>
          <a:p>
            <a:pPr marL="0" lvl="0" indent="0" algn="just" rtl="0">
              <a:lnSpc>
                <a:spcPct val="115000"/>
              </a:lnSpc>
              <a:spcBef>
                <a:spcPts val="1200"/>
              </a:spcBef>
              <a:spcAft>
                <a:spcPts val="1200"/>
              </a:spcAft>
              <a:buClr>
                <a:schemeClr val="dk1"/>
              </a:buClr>
              <a:buSzPts val="1100"/>
              <a:buFont typeface="Arial"/>
              <a:buNone/>
            </a:pPr>
            <a:r>
              <a:rPr lang="en-IN" sz="1300">
                <a:solidFill>
                  <a:srgbClr val="002060"/>
                </a:solidFill>
                <a:latin typeface="Bookman Old Style"/>
                <a:ea typeface="Bookman Old Style"/>
                <a:cs typeface="Bookman Old Style"/>
                <a:sym typeface="Bookman Old Style"/>
              </a:rPr>
              <a:t>This Arduino code initializes an RFID-based smart lock system. It includes necessary libraries for SPI communication and the MFRC522 RFID reader. Pin assignments are defined for the RFID module, LEDs, relay, and buzzer. In the setup() function, serial communication, SPI, and RFID modules are initialized, and the I/O pins are set up. The system waits for RFID card input and displays a message prompting the user to scan a tag. The loop() function (partially shown) begins checking for new RFID cards, preparing the system to validate scanned tags for access control.</a:t>
            </a:r>
            <a:endParaRPr sz="1300">
              <a:solidFill>
                <a:srgbClr val="002060"/>
              </a:solidFill>
              <a:latin typeface="Bookman Old Style"/>
              <a:ea typeface="Bookman Old Style"/>
              <a:cs typeface="Bookman Old Style"/>
              <a:sym typeface="Bookman Old Styl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2"/>
          <p:cNvSpPr txBox="1">
            <a:spLocks noGrp="1"/>
          </p:cNvSpPr>
          <p:nvPr>
            <p:ph type="body" idx="1"/>
          </p:nvPr>
        </p:nvSpPr>
        <p:spPr>
          <a:xfrm>
            <a:off x="174813" y="1258282"/>
            <a:ext cx="11842500" cy="4918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3000"/>
              <a:t>Experimental Setup: </a:t>
            </a:r>
            <a:endParaRPr sz="3000"/>
          </a:p>
          <a:p>
            <a:pPr marL="0" lvl="0" indent="0" algn="l" rtl="0">
              <a:spcBef>
                <a:spcPts val="1000"/>
              </a:spcBef>
              <a:spcAft>
                <a:spcPts val="0"/>
              </a:spcAft>
              <a:buNone/>
            </a:pPr>
            <a:endParaRPr/>
          </a:p>
        </p:txBody>
      </p:sp>
      <p:sp>
        <p:nvSpPr>
          <p:cNvPr id="208" name="Google Shape;208;p22"/>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10</a:t>
            </a:fld>
            <a:endParaRPr/>
          </a:p>
        </p:txBody>
      </p:sp>
      <p:sp>
        <p:nvSpPr>
          <p:cNvPr id="209" name="Google Shape;209;p22"/>
          <p:cNvSpPr txBox="1"/>
          <p:nvPr/>
        </p:nvSpPr>
        <p:spPr>
          <a:xfrm>
            <a:off x="5813825" y="1778650"/>
            <a:ext cx="5973300" cy="40353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IN" sz="1300">
                <a:solidFill>
                  <a:srgbClr val="002060"/>
                </a:solidFill>
                <a:latin typeface="Bookman Old Style"/>
                <a:ea typeface="Bookman Old Style"/>
                <a:cs typeface="Bookman Old Style"/>
                <a:sym typeface="Bookman Old Style"/>
              </a:rPr>
              <a:t>The setup consists of an </a:t>
            </a:r>
            <a:r>
              <a:rPr lang="en-IN" sz="1300" b="1">
                <a:solidFill>
                  <a:srgbClr val="002060"/>
                </a:solidFill>
                <a:latin typeface="Bookman Old Style"/>
                <a:ea typeface="Bookman Old Style"/>
                <a:cs typeface="Bookman Old Style"/>
                <a:sym typeface="Bookman Old Style"/>
              </a:rPr>
              <a:t>Arduino UNO</a:t>
            </a:r>
            <a:r>
              <a:rPr lang="en-IN" sz="1300">
                <a:solidFill>
                  <a:srgbClr val="002060"/>
                </a:solidFill>
                <a:latin typeface="Bookman Old Style"/>
                <a:ea typeface="Bookman Old Style"/>
                <a:cs typeface="Bookman Old Style"/>
                <a:sym typeface="Bookman Old Style"/>
              </a:rPr>
              <a:t> connected to an </a:t>
            </a:r>
            <a:r>
              <a:rPr lang="en-IN" sz="1300" b="1">
                <a:solidFill>
                  <a:srgbClr val="002060"/>
                </a:solidFill>
                <a:latin typeface="Bookman Old Style"/>
                <a:ea typeface="Bookman Old Style"/>
                <a:cs typeface="Bookman Old Style"/>
                <a:sym typeface="Bookman Old Style"/>
              </a:rPr>
              <a:t>RFID reader (RC522)</a:t>
            </a:r>
            <a:r>
              <a:rPr lang="en-IN" sz="1300">
                <a:solidFill>
                  <a:srgbClr val="002060"/>
                </a:solidFill>
                <a:latin typeface="Bookman Old Style"/>
                <a:ea typeface="Bookman Old Style"/>
                <a:cs typeface="Bookman Old Style"/>
                <a:sym typeface="Bookman Old Style"/>
              </a:rPr>
              <a:t>, which scans RFID tags to verify access. A </a:t>
            </a:r>
            <a:r>
              <a:rPr lang="en-IN" sz="1300" b="1">
                <a:solidFill>
                  <a:srgbClr val="002060"/>
                </a:solidFill>
                <a:latin typeface="Bookman Old Style"/>
                <a:ea typeface="Bookman Old Style"/>
                <a:cs typeface="Bookman Old Style"/>
                <a:sym typeface="Bookman Old Style"/>
              </a:rPr>
              <a:t>solenoid lock</a:t>
            </a:r>
            <a:r>
              <a:rPr lang="en-IN" sz="1300">
                <a:solidFill>
                  <a:srgbClr val="002060"/>
                </a:solidFill>
                <a:latin typeface="Bookman Old Style"/>
                <a:ea typeface="Bookman Old Style"/>
                <a:cs typeface="Bookman Old Style"/>
                <a:sym typeface="Bookman Old Style"/>
              </a:rPr>
              <a:t> is controlled through a </a:t>
            </a:r>
            <a:r>
              <a:rPr lang="en-IN" sz="1300" b="1">
                <a:solidFill>
                  <a:srgbClr val="002060"/>
                </a:solidFill>
                <a:latin typeface="Bookman Old Style"/>
                <a:ea typeface="Bookman Old Style"/>
                <a:cs typeface="Bookman Old Style"/>
                <a:sym typeface="Bookman Old Style"/>
              </a:rPr>
              <a:t>relay module</a:t>
            </a:r>
            <a:r>
              <a:rPr lang="en-IN" sz="1300">
                <a:solidFill>
                  <a:srgbClr val="002060"/>
                </a:solidFill>
                <a:latin typeface="Bookman Old Style"/>
                <a:ea typeface="Bookman Old Style"/>
                <a:cs typeface="Bookman Old Style"/>
                <a:sym typeface="Bookman Old Style"/>
              </a:rPr>
              <a:t>, which gets triggered when an authorized tag is detected. A </a:t>
            </a:r>
            <a:r>
              <a:rPr lang="en-IN" sz="1300" b="1">
                <a:solidFill>
                  <a:srgbClr val="002060"/>
                </a:solidFill>
                <a:latin typeface="Bookman Old Style"/>
                <a:ea typeface="Bookman Old Style"/>
                <a:cs typeface="Bookman Old Style"/>
                <a:sym typeface="Bookman Old Style"/>
              </a:rPr>
              <a:t>green LED</a:t>
            </a:r>
            <a:r>
              <a:rPr lang="en-IN" sz="1300">
                <a:solidFill>
                  <a:srgbClr val="002060"/>
                </a:solidFill>
                <a:latin typeface="Bookman Old Style"/>
                <a:ea typeface="Bookman Old Style"/>
                <a:cs typeface="Bookman Old Style"/>
                <a:sym typeface="Bookman Old Style"/>
              </a:rPr>
              <a:t> lights up and a </a:t>
            </a:r>
            <a:r>
              <a:rPr lang="en-IN" sz="1300" b="1">
                <a:solidFill>
                  <a:srgbClr val="002060"/>
                </a:solidFill>
                <a:latin typeface="Bookman Old Style"/>
                <a:ea typeface="Bookman Old Style"/>
                <a:cs typeface="Bookman Old Style"/>
                <a:sym typeface="Bookman Old Style"/>
              </a:rPr>
              <a:t>buzzer</a:t>
            </a:r>
            <a:r>
              <a:rPr lang="en-IN" sz="1300">
                <a:solidFill>
                  <a:srgbClr val="002060"/>
                </a:solidFill>
                <a:latin typeface="Bookman Old Style"/>
                <a:ea typeface="Bookman Old Style"/>
                <a:cs typeface="Bookman Old Style"/>
                <a:sym typeface="Bookman Old Style"/>
              </a:rPr>
              <a:t> beeps briefly on successful access; a </a:t>
            </a:r>
            <a:r>
              <a:rPr lang="en-IN" sz="1300" b="1">
                <a:solidFill>
                  <a:srgbClr val="002060"/>
                </a:solidFill>
                <a:latin typeface="Bookman Old Style"/>
                <a:ea typeface="Bookman Old Style"/>
                <a:cs typeface="Bookman Old Style"/>
                <a:sym typeface="Bookman Old Style"/>
              </a:rPr>
              <a:t>red LED</a:t>
            </a:r>
            <a:r>
              <a:rPr lang="en-IN" sz="1300">
                <a:solidFill>
                  <a:srgbClr val="002060"/>
                </a:solidFill>
                <a:latin typeface="Bookman Old Style"/>
                <a:ea typeface="Bookman Old Style"/>
                <a:cs typeface="Bookman Old Style"/>
                <a:sym typeface="Bookman Old Style"/>
              </a:rPr>
              <a:t> and a longer buzzer sound indicate unauthorized access.</a:t>
            </a:r>
            <a:endParaRPr sz="1300">
              <a:solidFill>
                <a:srgbClr val="002060"/>
              </a:solidFill>
              <a:latin typeface="Bookman Old Style"/>
              <a:ea typeface="Bookman Old Style"/>
              <a:cs typeface="Bookman Old Style"/>
              <a:sym typeface="Bookman Old Style"/>
            </a:endParaRPr>
          </a:p>
          <a:p>
            <a:pPr marL="0" lvl="0" indent="0" algn="just" rtl="0">
              <a:lnSpc>
                <a:spcPct val="115000"/>
              </a:lnSpc>
              <a:spcBef>
                <a:spcPts val="1200"/>
              </a:spcBef>
              <a:spcAft>
                <a:spcPts val="0"/>
              </a:spcAft>
              <a:buClr>
                <a:schemeClr val="dk1"/>
              </a:buClr>
              <a:buSzPts val="1100"/>
              <a:buFont typeface="Arial"/>
              <a:buNone/>
            </a:pPr>
            <a:r>
              <a:rPr lang="en-IN" sz="1300">
                <a:solidFill>
                  <a:srgbClr val="002060"/>
                </a:solidFill>
                <a:latin typeface="Bookman Old Style"/>
                <a:ea typeface="Bookman Old Style"/>
                <a:cs typeface="Bookman Old Style"/>
                <a:sym typeface="Bookman Old Style"/>
              </a:rPr>
              <a:t>Power is supplied through a </a:t>
            </a:r>
            <a:r>
              <a:rPr lang="en-IN" sz="1300" b="1">
                <a:solidFill>
                  <a:srgbClr val="002060"/>
                </a:solidFill>
                <a:latin typeface="Bookman Old Style"/>
                <a:ea typeface="Bookman Old Style"/>
                <a:cs typeface="Bookman Old Style"/>
                <a:sym typeface="Bookman Old Style"/>
              </a:rPr>
              <a:t>battery pack</a:t>
            </a:r>
            <a:r>
              <a:rPr lang="en-IN" sz="1300">
                <a:solidFill>
                  <a:srgbClr val="002060"/>
                </a:solidFill>
                <a:latin typeface="Bookman Old Style"/>
                <a:ea typeface="Bookman Old Style"/>
                <a:cs typeface="Bookman Old Style"/>
                <a:sym typeface="Bookman Old Style"/>
              </a:rPr>
              <a:t>, stepped down to 5V using a </a:t>
            </a:r>
            <a:r>
              <a:rPr lang="en-IN" sz="1300" b="1">
                <a:solidFill>
                  <a:srgbClr val="002060"/>
                </a:solidFill>
                <a:latin typeface="Bookman Old Style"/>
                <a:ea typeface="Bookman Old Style"/>
                <a:cs typeface="Bookman Old Style"/>
                <a:sym typeface="Bookman Old Style"/>
              </a:rPr>
              <a:t>7805 voltage regulator</a:t>
            </a:r>
            <a:r>
              <a:rPr lang="en-IN" sz="1300">
                <a:solidFill>
                  <a:srgbClr val="002060"/>
                </a:solidFill>
                <a:latin typeface="Bookman Old Style"/>
                <a:ea typeface="Bookman Old Style"/>
                <a:cs typeface="Bookman Old Style"/>
                <a:sym typeface="Bookman Old Style"/>
              </a:rPr>
              <a:t>, ensuring safe operation of components. The battery is rechargeable using a </a:t>
            </a:r>
            <a:r>
              <a:rPr lang="en-IN" sz="1300" b="1">
                <a:solidFill>
                  <a:srgbClr val="002060"/>
                </a:solidFill>
                <a:latin typeface="Bookman Old Style"/>
                <a:ea typeface="Bookman Old Style"/>
                <a:cs typeface="Bookman Old Style"/>
                <a:sym typeface="Bookman Old Style"/>
              </a:rPr>
              <a:t>TP4056 module</a:t>
            </a:r>
            <a:r>
              <a:rPr lang="en-IN" sz="1300">
                <a:solidFill>
                  <a:srgbClr val="002060"/>
                </a:solidFill>
                <a:latin typeface="Bookman Old Style"/>
                <a:ea typeface="Bookman Old Style"/>
                <a:cs typeface="Bookman Old Style"/>
                <a:sym typeface="Bookman Old Style"/>
              </a:rPr>
              <a:t>, and an </a:t>
            </a:r>
            <a:r>
              <a:rPr lang="en-IN" sz="1300" b="1">
                <a:solidFill>
                  <a:srgbClr val="002060"/>
                </a:solidFill>
                <a:latin typeface="Bookman Old Style"/>
                <a:ea typeface="Bookman Old Style"/>
                <a:cs typeface="Bookman Old Style"/>
                <a:sym typeface="Bookman Old Style"/>
              </a:rPr>
              <a:t>AC to DC converter</a:t>
            </a:r>
            <a:r>
              <a:rPr lang="en-IN" sz="1300">
                <a:solidFill>
                  <a:srgbClr val="002060"/>
                </a:solidFill>
                <a:latin typeface="Bookman Old Style"/>
                <a:ea typeface="Bookman Old Style"/>
                <a:cs typeface="Bookman Old Style"/>
                <a:sym typeface="Bookman Old Style"/>
              </a:rPr>
              <a:t> allows optional charging from the mains. A </a:t>
            </a:r>
            <a:r>
              <a:rPr lang="en-IN" sz="1300" b="1">
                <a:solidFill>
                  <a:srgbClr val="002060"/>
                </a:solidFill>
                <a:latin typeface="Bookman Old Style"/>
                <a:ea typeface="Bookman Old Style"/>
                <a:cs typeface="Bookman Old Style"/>
                <a:sym typeface="Bookman Old Style"/>
              </a:rPr>
              <a:t>push switch</a:t>
            </a:r>
            <a:r>
              <a:rPr lang="en-IN" sz="1300">
                <a:solidFill>
                  <a:srgbClr val="002060"/>
                </a:solidFill>
                <a:latin typeface="Bookman Old Style"/>
                <a:ea typeface="Bookman Old Style"/>
                <a:cs typeface="Bookman Old Style"/>
                <a:sym typeface="Bookman Old Style"/>
              </a:rPr>
              <a:t> is used to turn the system on/off.</a:t>
            </a:r>
            <a:endParaRPr sz="1300">
              <a:solidFill>
                <a:srgbClr val="002060"/>
              </a:solidFill>
              <a:latin typeface="Bookman Old Style"/>
              <a:ea typeface="Bookman Old Style"/>
              <a:cs typeface="Bookman Old Style"/>
              <a:sym typeface="Bookman Old Style"/>
            </a:endParaRPr>
          </a:p>
          <a:p>
            <a:pPr marL="0" lvl="0" indent="0" algn="just" rtl="0">
              <a:lnSpc>
                <a:spcPct val="115000"/>
              </a:lnSpc>
              <a:spcBef>
                <a:spcPts val="1200"/>
              </a:spcBef>
              <a:spcAft>
                <a:spcPts val="1200"/>
              </a:spcAft>
              <a:buClr>
                <a:schemeClr val="dk1"/>
              </a:buClr>
              <a:buSzPts val="1100"/>
              <a:buFont typeface="Arial"/>
              <a:buNone/>
            </a:pPr>
            <a:r>
              <a:rPr lang="en-IN" sz="1300">
                <a:solidFill>
                  <a:srgbClr val="002060"/>
                </a:solidFill>
                <a:latin typeface="Bookman Old Style"/>
                <a:ea typeface="Bookman Old Style"/>
                <a:cs typeface="Bookman Old Style"/>
                <a:sym typeface="Bookman Old Style"/>
              </a:rPr>
              <a:t>All components are assembled on a breadboard or baseboard for stability, and the system operates offline—ideal for lockers or cabinets in classrooms or homes. The experiment verifies the system’s functionality by scanning RFID tags and observing the lock and feedback components' responses.</a:t>
            </a:r>
            <a:endParaRPr sz="1300">
              <a:solidFill>
                <a:srgbClr val="002060"/>
              </a:solidFill>
              <a:latin typeface="Bookman Old Style"/>
              <a:ea typeface="Bookman Old Style"/>
              <a:cs typeface="Bookman Old Style"/>
              <a:sym typeface="Bookman Old Style"/>
            </a:endParaRPr>
          </a:p>
        </p:txBody>
      </p:sp>
      <p:pic>
        <p:nvPicPr>
          <p:cNvPr id="210" name="Google Shape;210;p22" title="WhatsApp Image 2025-06-21 at 22.00.28.jpeg"/>
          <p:cNvPicPr preferRelativeResize="0"/>
          <p:nvPr/>
        </p:nvPicPr>
        <p:blipFill>
          <a:blip r:embed="rId3">
            <a:alphaModFix/>
          </a:blip>
          <a:stretch>
            <a:fillRect/>
          </a:stretch>
        </p:blipFill>
        <p:spPr>
          <a:xfrm>
            <a:off x="720275" y="1778650"/>
            <a:ext cx="4376800" cy="4376800"/>
          </a:xfrm>
          <a:prstGeom prst="rect">
            <a:avLst/>
          </a:prstGeom>
          <a:noFill/>
          <a:ln>
            <a:noFill/>
          </a:ln>
        </p:spPr>
      </p:pic>
      <p:sp>
        <p:nvSpPr>
          <p:cNvPr id="211" name="Google Shape;211;p22"/>
          <p:cNvSpPr txBox="1"/>
          <p:nvPr/>
        </p:nvSpPr>
        <p:spPr>
          <a:xfrm>
            <a:off x="9379975" y="6716425"/>
            <a:ext cx="2831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3"/>
          <p:cNvSpPr txBox="1">
            <a:spLocks noGrp="1"/>
          </p:cNvSpPr>
          <p:nvPr>
            <p:ph type="body" idx="1"/>
          </p:nvPr>
        </p:nvSpPr>
        <p:spPr>
          <a:xfrm>
            <a:off x="174813" y="1258282"/>
            <a:ext cx="11842500" cy="4918800"/>
          </a:xfrm>
          <a:prstGeom prst="rect">
            <a:avLst/>
          </a:prstGeom>
        </p:spPr>
        <p:txBody>
          <a:bodyPr spcFirstLastPara="1" wrap="square" lIns="91425" tIns="45700" rIns="91425" bIns="45700" anchor="t" anchorCtr="0">
            <a:normAutofit fontScale="92500" lnSpcReduction="10000"/>
          </a:bodyPr>
          <a:lstStyle/>
          <a:p>
            <a:pPr marL="0" lvl="0" indent="0" algn="l" rtl="0">
              <a:spcBef>
                <a:spcPts val="1000"/>
              </a:spcBef>
              <a:spcAft>
                <a:spcPts val="0"/>
              </a:spcAft>
              <a:buNone/>
            </a:pPr>
            <a:r>
              <a:rPr lang="en-IN" sz="3000" dirty="0"/>
              <a:t>Results and Discussions: </a:t>
            </a:r>
            <a:endParaRPr sz="3000" dirty="0"/>
          </a:p>
          <a:p>
            <a:r>
              <a:rPr lang="en-US" sz="1900" dirty="0"/>
              <a:t>The developed smart lock system functioned reliably using both RFID authentication and Bluetooth-based control. The system accurately recognized authorized RFID tags and rejected unauthorized ones with appropriate LED and buzzer feedback. Similarly, the Bluetooth module (HC-05) responded correctly to valid commands from the mobile app while ignoring invalid inputs, ensuring secure operation.</a:t>
            </a:r>
          </a:p>
          <a:p>
            <a:r>
              <a:rPr lang="en-US" sz="1900" dirty="0"/>
              <a:t>The servo motor performed consistently in response to both authentication methods, demonstrating strong hardware-software integration. Testing showed the Bluetooth range to be effective up to approximately 10 meters, providing added convenience when RFID tags were not available.</a:t>
            </a:r>
          </a:p>
          <a:p>
            <a:r>
              <a:rPr lang="en-US" sz="1900" dirty="0"/>
              <a:t>Additionally, the TP4056 charging module and MT3608 voltage booster enabled stable battery-powered operation, making the system portable and functional during power outages. The manual switch offered a reliable emergency access option.</a:t>
            </a:r>
          </a:p>
          <a:p>
            <a:r>
              <a:rPr lang="en-US" sz="1900" dirty="0"/>
              <a:t>Overall, the project met its objectives of providing a dual-authentication, secure, and user-friendly smart locking solution suitable for shared spaces such as hostels or lockers. Minor limitations, such as the short RFID range and lack of real-time monitoring, present opportunities for future enhancements like IoT integration or biometric access.</a:t>
            </a:r>
          </a:p>
          <a:p>
            <a:pPr marL="0" lvl="0" indent="0" algn="just" rtl="0">
              <a:lnSpc>
                <a:spcPct val="115000"/>
              </a:lnSpc>
              <a:spcBef>
                <a:spcPts val="1200"/>
              </a:spcBef>
              <a:spcAft>
                <a:spcPts val="0"/>
              </a:spcAft>
              <a:buClr>
                <a:schemeClr val="dk1"/>
              </a:buClr>
              <a:buSzPts val="1100"/>
              <a:buFont typeface="Arial"/>
              <a:buNone/>
            </a:pPr>
            <a:r>
              <a:rPr lang="en-IN" sz="2000" dirty="0"/>
              <a:t>.</a:t>
            </a:r>
            <a:endParaRPr sz="2000" dirty="0"/>
          </a:p>
          <a:p>
            <a:pPr marL="0" lvl="0" indent="0" algn="l" rtl="0">
              <a:spcBef>
                <a:spcPts val="1200"/>
              </a:spcBef>
              <a:spcAft>
                <a:spcPts val="0"/>
              </a:spcAft>
              <a:buNone/>
            </a:pPr>
            <a:endParaRPr dirty="0"/>
          </a:p>
        </p:txBody>
      </p:sp>
      <p:sp>
        <p:nvSpPr>
          <p:cNvPr id="218" name="Google Shape;218;p23"/>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a:spLocks noGrp="1"/>
          </p:cNvSpPr>
          <p:nvPr>
            <p:ph type="body" idx="1"/>
          </p:nvPr>
        </p:nvSpPr>
        <p:spPr>
          <a:xfrm>
            <a:off x="174750" y="1343344"/>
            <a:ext cx="11842500" cy="49188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None/>
            </a:pPr>
            <a:r>
              <a:rPr lang="en-IN" sz="3000" dirty="0"/>
              <a:t>Conclusion and Future work: </a:t>
            </a:r>
            <a:endParaRPr sz="3000" dirty="0"/>
          </a:p>
          <a:p>
            <a:r>
              <a:rPr lang="en-US" sz="1900" dirty="0"/>
              <a:t>The project successfully demonstrated a low-cost, portable, and reliable RFID and Bluetooth-based smart locking system using Arduino UNO. The system provided secure access through dual authentication modes, ensured stable performance on battery power, and offered user-friendly operation through a mobile app and manual override.</a:t>
            </a:r>
          </a:p>
          <a:p>
            <a:r>
              <a:rPr lang="en-US" sz="1900" dirty="0"/>
              <a:t>The integration of readily available components and simple embedded programming makes this solution ideal for personal lockers, hostel doors, and classroom cabinets. It addresses key limitations of traditional locks, such as the loss of physical keys or tags, by offering flexible alternatives.</a:t>
            </a:r>
          </a:p>
          <a:p>
            <a:pPr marL="50800" indent="0">
              <a:buNone/>
            </a:pPr>
            <a:r>
              <a:rPr lang="en-US" sz="1900" dirty="0"/>
              <a:t>Future Work includes:</a:t>
            </a:r>
          </a:p>
          <a:p>
            <a:r>
              <a:rPr lang="en-US" sz="1900" dirty="0"/>
              <a:t>Adding IoT functionality for remote access and monitoring</a:t>
            </a:r>
          </a:p>
          <a:p>
            <a:r>
              <a:rPr lang="en-US" sz="1900" dirty="0"/>
              <a:t>Incorporating biometric authentication for enhanced security</a:t>
            </a:r>
          </a:p>
          <a:p>
            <a:r>
              <a:rPr lang="en-US" sz="1900" dirty="0"/>
              <a:t>Implementing access logging via EEPROM or cloud storage</a:t>
            </a:r>
          </a:p>
          <a:p>
            <a:r>
              <a:rPr lang="en-US" sz="1900" dirty="0"/>
              <a:t>Developing a dedicated mobile app UI for better user experience</a:t>
            </a:r>
          </a:p>
          <a:p>
            <a:r>
              <a:rPr lang="en-US" sz="1900" dirty="0"/>
              <a:t>Designing a compact and durable enclosure for real-world deployment</a:t>
            </a:r>
          </a:p>
          <a:p>
            <a:pPr marL="50800" indent="0">
              <a:buNone/>
            </a:pPr>
            <a:r>
              <a:rPr lang="en-US" sz="1900" dirty="0"/>
              <a:t>This project lays the foundation for scalable smart security systems adaptable to various environments.</a:t>
            </a:r>
          </a:p>
          <a:p>
            <a:endParaRPr lang="en-US" sz="1800" dirty="0"/>
          </a:p>
          <a:p>
            <a:pPr marL="0" lvl="0" indent="0" algn="just" rtl="0">
              <a:spcBef>
                <a:spcPts val="1200"/>
              </a:spcBef>
              <a:spcAft>
                <a:spcPts val="0"/>
              </a:spcAft>
              <a:buNone/>
            </a:pPr>
            <a:endParaRPr sz="1800" dirty="0"/>
          </a:p>
        </p:txBody>
      </p:sp>
      <p:sp>
        <p:nvSpPr>
          <p:cNvPr id="225" name="Google Shape;225;p24"/>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body" idx="1"/>
          </p:nvPr>
        </p:nvSpPr>
        <p:spPr>
          <a:xfrm>
            <a:off x="174813" y="1258282"/>
            <a:ext cx="11842500" cy="4918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3000"/>
              <a:t>References:</a:t>
            </a:r>
            <a:r>
              <a:rPr lang="en-IN"/>
              <a:t> </a:t>
            </a:r>
            <a:endParaRPr/>
          </a:p>
          <a:p>
            <a:pPr marL="457200" lvl="0" indent="-342900" algn="just" rtl="0">
              <a:lnSpc>
                <a:spcPct val="115000"/>
              </a:lnSpc>
              <a:spcBef>
                <a:spcPts val="0"/>
              </a:spcBef>
              <a:spcAft>
                <a:spcPts val="0"/>
              </a:spcAft>
              <a:buSzPts val="1800"/>
              <a:buFont typeface="Times New Roman"/>
              <a:buChar char="●"/>
            </a:pPr>
            <a:r>
              <a:rPr lang="en-IN" sz="700">
                <a:latin typeface="Times New Roman"/>
                <a:ea typeface="Times New Roman"/>
                <a:cs typeface="Times New Roman"/>
                <a:sym typeface="Times New Roman"/>
              </a:rPr>
              <a:t> </a:t>
            </a:r>
            <a:r>
              <a:rPr lang="en-IN" sz="1600">
                <a:latin typeface="Times New Roman"/>
                <a:ea typeface="Times New Roman"/>
                <a:cs typeface="Times New Roman"/>
                <a:sym typeface="Times New Roman"/>
              </a:rPr>
              <a:t>T. S. Rappaport, RFID and Contactless Technology Basics, Wiley, 2022.</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700">
                <a:latin typeface="Times New Roman"/>
                <a:ea typeface="Times New Roman"/>
                <a:cs typeface="Times New Roman"/>
                <a:sym typeface="Times New Roman"/>
              </a:rPr>
              <a:t> </a:t>
            </a:r>
            <a:r>
              <a:rPr lang="en-IN" sz="1600">
                <a:latin typeface="Times New Roman"/>
                <a:ea typeface="Times New Roman"/>
                <a:cs typeface="Times New Roman"/>
                <a:sym typeface="Times New Roman"/>
              </a:rPr>
              <a:t>A. Sharma, “Arduino Projects for Beginners,” International Journal of Embedded Systems, vol. 12, pp. 45–52, 2023.</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700">
                <a:latin typeface="Times New Roman"/>
                <a:ea typeface="Times New Roman"/>
                <a:cs typeface="Times New Roman"/>
                <a:sym typeface="Times New Roman"/>
              </a:rPr>
              <a:t> </a:t>
            </a:r>
            <a:r>
              <a:rPr lang="en-IN" sz="1600">
                <a:latin typeface="Times New Roman"/>
                <a:ea typeface="Times New Roman"/>
                <a:cs typeface="Times New Roman"/>
                <a:sym typeface="Times New Roman"/>
              </a:rPr>
              <a:t>M. Patel, “Smart Security Systems using RFID and IoT,” Journal of Emerging Technology, vol. 18, no. 3, pp. 98–104, 2023.</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700">
                <a:latin typeface="Times New Roman"/>
                <a:ea typeface="Times New Roman"/>
                <a:cs typeface="Times New Roman"/>
                <a:sym typeface="Times New Roman"/>
              </a:rPr>
              <a:t> </a:t>
            </a:r>
            <a:r>
              <a:rPr lang="en-IN" sz="1600">
                <a:latin typeface="Times New Roman"/>
                <a:ea typeface="Times New Roman"/>
                <a:cs typeface="Times New Roman"/>
                <a:sym typeface="Times New Roman"/>
              </a:rPr>
              <a:t>Arduino, “Arduino Documentation,” [Online]. Available: https://docs.arduino.cc. [Accessed: 19-Jun-2025].</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1600">
                <a:latin typeface="Times New Roman"/>
                <a:ea typeface="Times New Roman"/>
                <a:cs typeface="Times New Roman"/>
                <a:sym typeface="Times New Roman"/>
              </a:rPr>
              <a:t>Components101, “RC522 RFID Module Datasheet,” [Online]. Available: </a:t>
            </a:r>
            <a:r>
              <a:rPr lang="en-IN" sz="1600" u="sng">
                <a:latin typeface="Times New Roman"/>
                <a:ea typeface="Times New Roman"/>
                <a:cs typeface="Times New Roman"/>
                <a:sym typeface="Times New Roman"/>
                <a:hlinkClick r:id="rId3"/>
              </a:rPr>
              <a:t>https://components101.com/rfid-rc522-module</a:t>
            </a:r>
            <a:r>
              <a:rPr lang="en-IN"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1600">
                <a:latin typeface="Times New Roman"/>
                <a:ea typeface="Times New Roman"/>
                <a:cs typeface="Times New Roman"/>
                <a:sym typeface="Times New Roman"/>
              </a:rPr>
              <a:t>D. Kumar and R. Singh, “Design and Implementation of IoT-Based Smart Door Lock System,” International Journal of Computer Applications, vol. 182, no. 25, pp. 18–22, 2021.</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1600">
                <a:latin typeface="Times New Roman"/>
                <a:ea typeface="Times New Roman"/>
                <a:cs typeface="Times New Roman"/>
                <a:sym typeface="Times New Roman"/>
              </a:rPr>
              <a:t>N. Gupta and S. Verma, “RFID Based Secure Lock System Using Arduino and GSM,” International Journal of Advanced Research in Electronics and Communication Engineering (IJARECE), vol. 9, no. 5, pp. 111–114, May 2022.</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1600">
                <a:latin typeface="Times New Roman"/>
                <a:ea typeface="Times New Roman"/>
                <a:cs typeface="Times New Roman"/>
                <a:sym typeface="Times New Roman"/>
              </a:rPr>
              <a:t>B. A. Forouzan, Data Communications and Networking, 5th ed., McGraw-Hill, 2013.</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1600">
                <a:latin typeface="Times New Roman"/>
                <a:ea typeface="Times New Roman"/>
                <a:cs typeface="Times New Roman"/>
                <a:sym typeface="Times New Roman"/>
              </a:rPr>
              <a:t>H. ElSayed et al., “A Review on Smart Lock System Technologies,” International Journal of Smart Home, vol. 14, no. 2, pp. 1–10, Apr. 2020.</a:t>
            </a:r>
            <a:endParaRPr sz="16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IN" sz="1600">
                <a:latin typeface="Times New Roman"/>
                <a:ea typeface="Times New Roman"/>
                <a:cs typeface="Times New Roman"/>
                <a:sym typeface="Times New Roman"/>
              </a:rPr>
              <a:t>J. L. Hellerstein, “Embedded Systems Design: A Unified Hardware/Software Introduction,” IEEE Micro, vol. 23, no. 4, pp. 15–27, Jul.–Aug. 2003.</a:t>
            </a:r>
            <a:endParaRPr sz="1600">
              <a:latin typeface="Times New Roman"/>
              <a:ea typeface="Times New Roman"/>
              <a:cs typeface="Times New Roman"/>
              <a:sym typeface="Times New Roman"/>
            </a:endParaRPr>
          </a:p>
          <a:p>
            <a:pPr marL="0" lvl="0" indent="0" algn="l" rtl="0">
              <a:spcBef>
                <a:spcPts val="1000"/>
              </a:spcBef>
              <a:spcAft>
                <a:spcPts val="0"/>
              </a:spcAft>
              <a:buNone/>
            </a:pPr>
            <a:endParaRPr/>
          </a:p>
        </p:txBody>
      </p:sp>
      <p:sp>
        <p:nvSpPr>
          <p:cNvPr id="232" name="Google Shape;232;p25"/>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6"/>
          <p:cNvSpPr txBox="1">
            <a:spLocks noGrp="1"/>
          </p:cNvSpPr>
          <p:nvPr>
            <p:ph type="body" idx="1"/>
          </p:nvPr>
        </p:nvSpPr>
        <p:spPr>
          <a:xfrm>
            <a:off x="174813" y="925286"/>
            <a:ext cx="11842500" cy="5251796"/>
          </a:xfrm>
          <a:prstGeom prst="rect">
            <a:avLst/>
          </a:prstGeom>
        </p:spPr>
        <p:txBody>
          <a:bodyPr spcFirstLastPara="1" wrap="square" lIns="91425" tIns="45700" rIns="91425" bIns="45700" anchor="t" anchorCtr="0">
            <a:normAutofit fontScale="85000" lnSpcReduction="20000"/>
          </a:bodyPr>
          <a:lstStyle/>
          <a:p>
            <a:pPr marL="0" lvl="0" indent="0" algn="l" rtl="0">
              <a:spcBef>
                <a:spcPts val="1000"/>
              </a:spcBef>
              <a:spcAft>
                <a:spcPts val="0"/>
              </a:spcAft>
              <a:buNone/>
            </a:pPr>
            <a:r>
              <a:rPr lang="en-IN" sz="3000" dirty="0"/>
              <a:t>Appendices: </a:t>
            </a:r>
            <a:endParaRPr sz="3000" dirty="0"/>
          </a:p>
          <a:p>
            <a:pPr marL="50800" indent="0">
              <a:buNone/>
            </a:pPr>
            <a:r>
              <a:rPr lang="en-IN" sz="2100" b="1" dirty="0"/>
              <a:t>Component List:</a:t>
            </a:r>
            <a:endParaRPr lang="en-IN" sz="2100" dirty="0"/>
          </a:p>
          <a:p>
            <a:r>
              <a:rPr lang="en-IN" sz="1800" dirty="0"/>
              <a:t>Arduino UNO</a:t>
            </a:r>
          </a:p>
          <a:p>
            <a:r>
              <a:rPr lang="en-IN" sz="1800" dirty="0"/>
              <a:t>RC522 RFID Reader</a:t>
            </a:r>
          </a:p>
          <a:p>
            <a:r>
              <a:rPr lang="en-IN" sz="1800" dirty="0"/>
              <a:t>HC-05 Bluetooth Module</a:t>
            </a:r>
          </a:p>
          <a:p>
            <a:r>
              <a:rPr lang="en-IN" sz="1800" dirty="0"/>
              <a:t>SG90 Servo Motor</a:t>
            </a:r>
          </a:p>
          <a:p>
            <a:r>
              <a:rPr lang="en-IN" sz="1800" dirty="0"/>
              <a:t>TP4056 Charging Module</a:t>
            </a:r>
          </a:p>
          <a:p>
            <a:r>
              <a:rPr lang="en-IN" sz="1800" dirty="0"/>
              <a:t>MT3608 Voltage Booster</a:t>
            </a:r>
          </a:p>
          <a:p>
            <a:r>
              <a:rPr lang="en-IN" sz="1800" dirty="0"/>
              <a:t>18650 Li-ion Batteries (x3)</a:t>
            </a:r>
          </a:p>
          <a:p>
            <a:r>
              <a:rPr lang="en-IN" sz="1800" dirty="0"/>
              <a:t>LEDs, Buzzer, Relay, Push Button, Resistors, Jumper Wires, Breadboard</a:t>
            </a:r>
          </a:p>
          <a:p>
            <a:pPr marL="50800" indent="0">
              <a:buNone/>
            </a:pPr>
            <a:r>
              <a:rPr lang="en-IN" sz="2100" b="1" dirty="0"/>
              <a:t>Mobile App Tool Used:</a:t>
            </a:r>
          </a:p>
          <a:p>
            <a:r>
              <a:rPr lang="en-IN" sz="1800" dirty="0"/>
              <a:t>Bluetooth Terminal App (for testing commands like “OPEN”)</a:t>
            </a:r>
          </a:p>
          <a:p>
            <a:pPr marL="50800" indent="0">
              <a:buNone/>
            </a:pPr>
            <a:r>
              <a:rPr lang="en-IN" sz="2100" b="1" dirty="0"/>
              <a:t>Testing Log Samples:</a:t>
            </a:r>
          </a:p>
          <a:p>
            <a:r>
              <a:rPr lang="en-IN" sz="1800" dirty="0"/>
              <a:t>Valid tag unlocks the door (LED ON, Servo 90°)</a:t>
            </a:r>
          </a:p>
          <a:p>
            <a:r>
              <a:rPr lang="en-IN" sz="1800" dirty="0"/>
              <a:t>Invalid tag triggers buzzer alert</a:t>
            </a:r>
          </a:p>
          <a:p>
            <a:r>
              <a:rPr lang="en-IN" sz="1800" dirty="0"/>
              <a:t>Bluetooth command “OPEN” activates lock</a:t>
            </a:r>
          </a:p>
          <a:p>
            <a:r>
              <a:rPr lang="en-IN" sz="1800" dirty="0"/>
              <a:t>Battery operation confirmed for 2+ hours</a:t>
            </a:r>
          </a:p>
          <a:p>
            <a:pPr marL="0" lvl="0" indent="0" algn="l" rtl="0">
              <a:spcBef>
                <a:spcPts val="1000"/>
              </a:spcBef>
              <a:spcAft>
                <a:spcPts val="0"/>
              </a:spcAft>
              <a:buNone/>
            </a:pPr>
            <a:endParaRPr sz="3000" dirty="0"/>
          </a:p>
          <a:p>
            <a:pPr marL="0" lvl="0" indent="0" algn="l" rtl="0">
              <a:spcBef>
                <a:spcPts val="1000"/>
              </a:spcBef>
              <a:spcAft>
                <a:spcPts val="0"/>
              </a:spcAft>
              <a:buNone/>
            </a:pPr>
            <a:endParaRPr dirty="0"/>
          </a:p>
        </p:txBody>
      </p:sp>
      <p:sp>
        <p:nvSpPr>
          <p:cNvPr id="239" name="Google Shape;239;p26"/>
          <p:cNvSpPr txBox="1">
            <a:spLocks noGrp="1"/>
          </p:cNvSpPr>
          <p:nvPr>
            <p:ph type="sldNum" idx="12"/>
          </p:nvPr>
        </p:nvSpPr>
        <p:spPr>
          <a:xfrm>
            <a:off x="9273988" y="6347205"/>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7"/>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Friday, 20 June 2025</a:t>
            </a:r>
            <a:endParaRPr/>
          </a:p>
        </p:txBody>
      </p:sp>
      <p:sp>
        <p:nvSpPr>
          <p:cNvPr id="245" name="Google Shape;245;p2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246" name="Google Shape;246;p27"/>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2009</Words>
  <Application>Microsoft Office PowerPoint</Application>
  <PresentationFormat>Widescreen</PresentationFormat>
  <Paragraphs>145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Bookman Old Style</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Aayushi Priya</cp:lastModifiedBy>
  <cp:revision>6</cp:revision>
  <dcterms:modified xsi:type="dcterms:W3CDTF">2025-07-22T14:34:17Z</dcterms:modified>
</cp:coreProperties>
</file>