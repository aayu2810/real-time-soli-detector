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761163" cy="994251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56" d="100"/>
          <a:sy n="56" d="100"/>
        </p:scale>
        <p:origin x="1044" y="1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3T14:13:52.40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574 193 24575,'0'-2'0,"0"0"0,1 1 0,-1-1 0,1 1 0,-1-1 0,1 1 0,0-1 0,0 1 0,-1 0 0,1-1 0,0 1 0,0 0 0,0 0 0,1-1 0,-1 1 0,0 0 0,0 0 0,1 0 0,-1 0 0,0 1 0,3-2 0,36-16 0,-39 17 0,52-15 0,1 2 0,101-13 0,-105 20 0,211-29 0,1 12 0,277 11 0,-520 14 0,-35-1 0,-967 4 0,532-6 0,327 1 0,-131 3 0,253-3 0,0 1 0,0 0 0,0 0 0,0 0 0,0 1 0,0-1 0,0 0 0,0 1 0,0-1 0,1 1 0,-4 1 0,7-1 0,1 1 0,0-1 0,0 0 0,0 0 0,0-1 0,0 1 0,0-1 0,5 1 0,261 39 0,-185-27-22,582 86-1077,6-19 165,-139-37 744,-263-23 119,-432-22 408,-97-7 1450,-540-13-4252,-167-1 813,666 15 1542,294 7 138,-41 1-94,38 2 143,23 2 284,113 22 1235,104 14-1197,109 16-745,97 23-1041,908 139-2290,11-73 962,-1145-133 2370,-193-10 417,0-2-1,-1 0 1,26-4 0,-43 4-60,0 0-1,1 0 1,-1 0-1,0 0 1,0 0-1,0 0 1,1 0-1,-1 0 1,0 0-1,0 0 1,0 0-1,0 0 1,1 0 0,-1 0-1,0-1 1,0 1-1,0 0 1,0 0-1,0 0 1,1 0-1,-1 0 1,0 0-1,0-1 1,0 1-1,0 0 1,0 0-1,0 0 1,0 0-1,0-1 1,0 1-1,0 0 1,1 0-1,-1 0 1,0-1-1,0 1 1,0 0-1,0 0 1,0 0-1,0-1 1,0 1-1,0 0 1,0 0-1,-1 0 1,1 0-1,0-1 1,0 1-1,0 0 1,0 0-1,0 0 1,0 0-1,0-1 1,0 1-1,0 0 1,-1 0-1,1 0 1,0 0-1,0 0 1,0-1-1,0 1 1,0 0-1,-1 0 1,1 0-1,0 0 1,0 0 0,-26-13 736,-101-22-374,-103-17-374,-97-17 170,81 18 284,-1300-262-340,-1 56-732,1443 245 629,-52-11 512,154 22-461,8 1-30,28 3-19,112 13-13,70 6-192,588 28-532,3-35 4507,-723-15-3274,-80 0-419,-7 0-6,-15-1 76,-136-1 940,-1384 1 249,1488 0-1405,29 0-212,-1 1-1,1 1 1,-31 5 0,35 1-5378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3T14:14:02.79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46 96 24575,'-13'4'0,"-17"8"0,30-12 0,0 0 0,0 0 0,0 0 0,-1 0 0,1 0 0,0 0 0,0 0 0,0 0 0,0 1 0,0-1 0,-1 0 0,1 0 0,0 0 0,0 0 0,0 0 0,0 0 0,0 0 0,0 1 0,0-1 0,0 0 0,-1 0 0,1 0 0,0 0 0,0 0 0,0 1 0,0-1 0,0 0 0,0 0 0,0 0 0,0 0 0,0 0 0,0 1 0,0-1 0,0 0 0,0 0 0,0 0 0,0 0 0,0 1 0,0-1 0,0 0 0,0 0 0,0 0 0,0 0 0,1 1 0,-1-1 0,0 0 0,0 0 0,0 0 0,0 0 0,0 0 0,0 0 0,0 0 0,0 1 0,1-1 0,-1 0 0,0 0 0,0 0 0,0 0 0,14 5 0,40 4 0,0-3 0,100 0 0,-92-5 0,1072 2 0,-1081-5 0,-53 2 0,1 1 0,0-1 0,0 0 0,-1 0 0,1 0 0,0 0 0,0 0 0,0 0 0,-1 0 0,1-1 0,0 1 0,0 0 0,-1 0 0,1-1 0,0 1 0,-1 0 0,1-1 0,0 1 0,-1 0 0,1-1 0,0 0 0,-18-5 0,-57-5 0,1 4 0,-110 2 0,103 4 0,-837-7 0,902 8 0,28 0 0,233 2 0,453-7 0,-514-6 0,-169 10 0,-16 1 0,0 0 0,0 0 0,-1 0 0,1-1 0,0 1 0,0 0 0,0 0 0,0 0 0,0 0 0,0 0 0,0 0 0,0 0 0,0 0 0,0 0 0,0 0 0,0 0 0,0 0 0,0 0 0,0 0 0,0 0 0,0 0 0,0 0 0,0 0 0,0 0 0,0 0 0,0 0 0,0 0 0,0 0 0,0 0 0,0 0 0,0-1 0,0 1 0,0 0 0,-25-1 0,-747 0 0,402 3 0,506-6 0,1035-35-1605,-737 23 1520,191-9-64,-596 23 116,-25 1 10,-6 1 13,-43 1 340,-264 17 1069,-306 14-2165,-228-21 626,775-11 142,-3 2-2,61 0 0,18 0 0,31 3 0,591 8-572,-461-13 360,1807 1 56,-2496 10 1206,147 0-544,-584-7-599,922-5-543,-51-7 0,59 3-5726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3T14:14:09.55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3411 1 24575,'30'1'0,"52"10"0,-14-1 0,219 4 0,-1199-17 0,489 5 0,188-2 0,217 0 0,37 3 0,509 20 0,-297-19 0,502 11 0,-3114-17 0,1265 3 0,824 8 0,281-8 0,24 5 0,151 29 0,197 17 0,-305-46 0,1110 62 0,-1161-68 0,74 1 0,117 17 0,-146-12 0,0-3 0,80-4 0,-40-1 0,491 3 0,-891 10 0,114-1 0,147-9 0,-6 0 0,0 2 0,-83 15 0,127-14 0,0 0 0,0 0 0,-21 12 0,-20 8 0,-18-5 0,0-3 0,-84 7 0,84-14 0,-53 8 0,-104 16 0,21 8 0,205-41 0,0 0 0,0 0 0,-1 1 0,1-1 0,0 0 0,0 0 0,0 1 0,0-1 0,0 0 0,0 1 0,0-1 0,0 1 0,0 0 0,0-1 0,0 1 0,0 0 0,0 0 0,0-1 0,-1 3 0,3-3 0,-1 1 0,0 0 0,0-1 0,0 1 0,0-1 0,0 1 0,0 0 0,1-1 0,-1 1 0,0-1 0,0 1 0,1-1 0,-1 1 0,0-1 0,1 1 0,-1-1 0,1 1 0,-1-1 0,1 1 0,-1-1 0,1 1 0,-1-1 0,1 0 0,0 1 0,6 3 0,1 0 0,-1 0 0,1 0 0,9 2 0,42 10 0,2-1 0,0-4 0,102 7 0,192-14 0,-231-5 0,56 1 0,231-5 0,-336-2 0,34-1 0,-35 9-1365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29837" cy="4988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29761" y="0"/>
            <a:ext cx="2929837" cy="4988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6bb53fbcf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300" cy="335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6bb53fbcf9_0_0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9000" cy="3915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g36bb53fbcf9_0_0:notes"/>
          <p:cNvSpPr txBox="1">
            <a:spLocks noGrp="1"/>
          </p:cNvSpPr>
          <p:nvPr>
            <p:ph type="sldNum" idx="12"/>
          </p:nvPr>
        </p:nvSpPr>
        <p:spPr>
          <a:xfrm>
            <a:off x="3829761" y="9443662"/>
            <a:ext cx="2929800" cy="498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p2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2:notes"/>
          <p:cNvSpPr txBox="1">
            <a:spLocks noGrp="1"/>
          </p:cNvSpPr>
          <p:nvPr>
            <p:ph type="sldNum" idx="12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9000" cy="3915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6bb53fbcf9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6bb53fbcf9_0_19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9000" cy="3915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g36bb53fbcf9_0_19:notes"/>
          <p:cNvSpPr txBox="1">
            <a:spLocks noGrp="1"/>
          </p:cNvSpPr>
          <p:nvPr>
            <p:ph type="sldNum" idx="12"/>
          </p:nvPr>
        </p:nvSpPr>
        <p:spPr>
          <a:xfrm>
            <a:off x="3829761" y="9443662"/>
            <a:ext cx="2929800" cy="4989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9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4" name="Google Shape;21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p11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1:notes"/>
          <p:cNvSpPr txBox="1">
            <a:spLocks noGrp="1"/>
          </p:cNvSpPr>
          <p:nvPr>
            <p:ph type="sldNum" idx="12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p12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2:notes"/>
          <p:cNvSpPr txBox="1">
            <a:spLocks noGrp="1"/>
          </p:cNvSpPr>
          <p:nvPr>
            <p:ph type="sldNum" idx="12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4" name="Google Shape;244;p13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3:notes"/>
          <p:cNvSpPr txBox="1">
            <a:spLocks noGrp="1"/>
          </p:cNvSpPr>
          <p:nvPr>
            <p:ph type="sldNum" idx="12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6bb53fbcf9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3" name="Google Shape;253;g36bb53fbcf9_0_31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9000" cy="39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g36bb53fbcf9_0_31:notes"/>
          <p:cNvSpPr txBox="1">
            <a:spLocks noGrp="1"/>
          </p:cNvSpPr>
          <p:nvPr>
            <p:ph type="sldNum" idx="12"/>
          </p:nvPr>
        </p:nvSpPr>
        <p:spPr>
          <a:xfrm>
            <a:off x="3829761" y="9443662"/>
            <a:ext cx="2929800" cy="4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5" name="Google Shape;265;p14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14:notes"/>
          <p:cNvSpPr txBox="1">
            <a:spLocks noGrp="1"/>
          </p:cNvSpPr>
          <p:nvPr>
            <p:ph type="sldNum" idx="12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4" name="Google Shape;274;p15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15:notes"/>
          <p:cNvSpPr txBox="1">
            <a:spLocks noGrp="1"/>
          </p:cNvSpPr>
          <p:nvPr>
            <p:ph type="sldNum" idx="12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6bb53fbcf9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3" name="Google Shape;283;g36bb53fbcf9_0_60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9000" cy="391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g36bb53fbcf9_0_60:notes"/>
          <p:cNvSpPr txBox="1">
            <a:spLocks noGrp="1"/>
          </p:cNvSpPr>
          <p:nvPr>
            <p:ph type="sldNum" idx="12"/>
          </p:nvPr>
        </p:nvSpPr>
        <p:spPr>
          <a:xfrm>
            <a:off x="3829761" y="9443662"/>
            <a:ext cx="2929800" cy="4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2" name="Google Shape;292;p16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16:notes"/>
          <p:cNvSpPr txBox="1">
            <a:spLocks noGrp="1"/>
          </p:cNvSpPr>
          <p:nvPr>
            <p:ph type="sldNum" idx="12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1" name="Google Shape;301;p17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17:notes"/>
          <p:cNvSpPr txBox="1">
            <a:spLocks noGrp="1"/>
          </p:cNvSpPr>
          <p:nvPr>
            <p:ph type="sldNum" idx="12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0" name="Google Shape;310;p18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18:notes"/>
          <p:cNvSpPr txBox="1">
            <a:spLocks noGrp="1"/>
          </p:cNvSpPr>
          <p:nvPr>
            <p:ph type="sldNum" idx="12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9:notes"/>
          <p:cNvSpPr txBox="1">
            <a:spLocks noGrp="1"/>
          </p:cNvSpPr>
          <p:nvPr>
            <p:ph type="body" idx="1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98463" y="1243013"/>
            <a:ext cx="5964237" cy="33559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body" idx="1"/>
          </p:nvPr>
        </p:nvSpPr>
        <p:spPr>
          <a:xfrm>
            <a:off x="174813" y="1258282"/>
            <a:ext cx="11842377" cy="491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800"/>
              <a:buChar char="•"/>
              <a:defRPr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2000"/>
              <a:buChar char="•"/>
              <a:defRPr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Char char="•"/>
              <a:defRPr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2060"/>
              </a:buClr>
              <a:buSzPts val="1800"/>
              <a:buChar char="•"/>
              <a:defRPr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/>
          <p:nvPr/>
        </p:nvSpPr>
        <p:spPr>
          <a:xfrm>
            <a:off x="5055596" y="6405140"/>
            <a:ext cx="2080806" cy="2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700" rIns="0" bIns="0" anchor="t" anchorCtr="0">
            <a:spAutoFit/>
          </a:bodyPr>
          <a:lstStyle/>
          <a:p>
            <a:pPr marL="7701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400" b="1" i="1" u="none" strike="noStrike" cap="none">
                <a:solidFill>
                  <a:srgbClr val="422C7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Go, change the world</a:t>
            </a:r>
            <a:endParaRPr sz="1400" b="1" i="0" u="none" strike="noStrike" cap="none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174812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ldNum" idx="12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2"/>
          <p:cNvPicPr preferRelativeResize="0"/>
          <p:nvPr/>
        </p:nvPicPr>
        <p:blipFill rotWithShape="1">
          <a:blip r:embed="rId2">
            <a:alphaModFix/>
          </a:blip>
          <a:srcRect t="13833"/>
          <a:stretch/>
        </p:blipFill>
        <p:spPr>
          <a:xfrm>
            <a:off x="-1" y="76427"/>
            <a:ext cx="2207505" cy="9976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ctrTitle"/>
          </p:nvPr>
        </p:nvSpPr>
        <p:spPr>
          <a:xfrm>
            <a:off x="1524000" y="1195310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6000"/>
              <a:buFont typeface="Bookman Old Style"/>
              <a:buNone/>
              <a:defRPr sz="6000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C00000"/>
              </a:buClr>
              <a:buSzPts val="2400"/>
              <a:buNone/>
              <a:defRPr sz="2400">
                <a:solidFill>
                  <a:srgbClr val="C00000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sldNum" idx="12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26" name="Google Shape;26;p3"/>
          <p:cNvSpPr txBox="1"/>
          <p:nvPr/>
        </p:nvSpPr>
        <p:spPr>
          <a:xfrm>
            <a:off x="4541263" y="6344368"/>
            <a:ext cx="3498933" cy="3771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700" rIns="0" bIns="0" anchor="t" anchorCtr="0">
            <a:spAutoFit/>
          </a:bodyPr>
          <a:lstStyle/>
          <a:p>
            <a:pPr marL="7701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 i="1">
                <a:solidFill>
                  <a:srgbClr val="422C75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Go, change the world</a:t>
            </a:r>
            <a:endParaRPr sz="2400" b="1">
              <a:solidFill>
                <a:schemeClr val="dk1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27" name="Google Shape;27;p3"/>
          <p:cNvPicPr preferRelativeResize="0"/>
          <p:nvPr/>
        </p:nvPicPr>
        <p:blipFill rotWithShape="1">
          <a:blip r:embed="rId2">
            <a:alphaModFix/>
          </a:blip>
          <a:srcRect t="13833"/>
          <a:stretch/>
        </p:blipFill>
        <p:spPr>
          <a:xfrm>
            <a:off x="0" y="0"/>
            <a:ext cx="2207505" cy="9976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268942" y="1258282"/>
            <a:ext cx="5750859" cy="4918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body" idx="2"/>
          </p:nvPr>
        </p:nvSpPr>
        <p:spPr>
          <a:xfrm>
            <a:off x="6172202" y="1258280"/>
            <a:ext cx="5795682" cy="49186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dt" idx="10"/>
          </p:nvPr>
        </p:nvSpPr>
        <p:spPr>
          <a:xfrm>
            <a:off x="26894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9224683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33" name="Google Shape;33;p4"/>
          <p:cNvGrpSpPr/>
          <p:nvPr/>
        </p:nvGrpSpPr>
        <p:grpSpPr>
          <a:xfrm>
            <a:off x="4862837" y="6212514"/>
            <a:ext cx="2313924" cy="600635"/>
            <a:chOff x="9682912" y="8965"/>
            <a:chExt cx="2402541" cy="600635"/>
          </a:xfrm>
        </p:grpSpPr>
        <p:sp>
          <p:nvSpPr>
            <p:cNvPr id="34" name="Google Shape;34;p4"/>
            <p:cNvSpPr/>
            <p:nvPr/>
          </p:nvSpPr>
          <p:spPr>
            <a:xfrm>
              <a:off x="9682912" y="8965"/>
              <a:ext cx="2402541" cy="600635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9050" cap="flat" cmpd="sng">
              <a:solidFill>
                <a:srgbClr val="00206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35;p4"/>
            <p:cNvSpPr txBox="1"/>
            <p:nvPr/>
          </p:nvSpPr>
          <p:spPr>
            <a:xfrm>
              <a:off x="9803934" y="193190"/>
              <a:ext cx="2160495" cy="2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7700" rIns="0" bIns="0" anchor="t" anchorCtr="0">
              <a:spAutoFit/>
            </a:bodyPr>
            <a:lstStyle/>
            <a:p>
              <a:pPr marL="7701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400" b="1" i="1">
                  <a:solidFill>
                    <a:srgbClr val="422C75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Go, change the world</a:t>
              </a:r>
              <a:endParaRPr sz="1400" b="1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</p:grpSp>
      <p:pic>
        <p:nvPicPr>
          <p:cNvPr id="36" name="Google Shape;36;p4"/>
          <p:cNvPicPr preferRelativeResize="0"/>
          <p:nvPr/>
        </p:nvPicPr>
        <p:blipFill rotWithShape="1">
          <a:blip r:embed="rId2">
            <a:alphaModFix/>
          </a:blip>
          <a:srcRect t="13833"/>
          <a:stretch/>
        </p:blipFill>
        <p:spPr>
          <a:xfrm>
            <a:off x="224117" y="81266"/>
            <a:ext cx="2207505" cy="9976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5400"/>
              <a:buFont typeface="Bookman Old Style"/>
              <a:buNone/>
              <a:defRPr sz="5400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ts val="2400"/>
              <a:buNone/>
              <a:defRPr sz="2400">
                <a:solidFill>
                  <a:srgbClr val="00206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dt" idx="10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ftr" idx="11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43" name="Google Shape;43;p5"/>
          <p:cNvGrpSpPr/>
          <p:nvPr/>
        </p:nvGrpSpPr>
        <p:grpSpPr>
          <a:xfrm>
            <a:off x="9842217" y="17838"/>
            <a:ext cx="2313924" cy="600635"/>
            <a:chOff x="9682912" y="8965"/>
            <a:chExt cx="2402541" cy="600635"/>
          </a:xfrm>
        </p:grpSpPr>
        <p:sp>
          <p:nvSpPr>
            <p:cNvPr id="44" name="Google Shape;44;p5"/>
            <p:cNvSpPr/>
            <p:nvPr/>
          </p:nvSpPr>
          <p:spPr>
            <a:xfrm>
              <a:off x="9682912" y="8965"/>
              <a:ext cx="2402541" cy="600635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9050" cap="flat" cmpd="sng">
              <a:solidFill>
                <a:srgbClr val="00206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45;p5"/>
            <p:cNvSpPr txBox="1"/>
            <p:nvPr/>
          </p:nvSpPr>
          <p:spPr>
            <a:xfrm>
              <a:off x="9803934" y="193190"/>
              <a:ext cx="2160495" cy="2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7700" rIns="0" bIns="0" anchor="t" anchorCtr="0">
              <a:spAutoFit/>
            </a:bodyPr>
            <a:lstStyle/>
            <a:p>
              <a:pPr marL="7701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400" b="1" i="1">
                  <a:solidFill>
                    <a:srgbClr val="422C75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Go, change the world</a:t>
              </a:r>
              <a:endParaRPr sz="1400" b="1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" name="Google Shape;47;p6"/>
          <p:cNvGrpSpPr/>
          <p:nvPr/>
        </p:nvGrpSpPr>
        <p:grpSpPr>
          <a:xfrm>
            <a:off x="-35002" y="0"/>
            <a:ext cx="12191145" cy="6858000"/>
            <a:chOff x="-35003" y="-1"/>
            <a:chExt cx="12191144" cy="6858000"/>
          </a:xfrm>
        </p:grpSpPr>
        <p:sp>
          <p:nvSpPr>
            <p:cNvPr id="48" name="Google Shape;48;p6"/>
            <p:cNvSpPr/>
            <p:nvPr/>
          </p:nvSpPr>
          <p:spPr>
            <a:xfrm>
              <a:off x="-35003" y="-1"/>
              <a:ext cx="12191144" cy="6858000"/>
            </a:xfrm>
            <a:prstGeom prst="rect">
              <a:avLst/>
            </a:prstGeom>
            <a:solidFill>
              <a:schemeClr val="lt1">
                <a:alpha val="98823"/>
              </a:schemeClr>
            </a:solidFill>
            <a:ln w="76200" cap="flat" cmpd="sng">
              <a:solidFill>
                <a:srgbClr val="00589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92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9" name="Google Shape;49;p6"/>
            <p:cNvGrpSpPr/>
            <p:nvPr/>
          </p:nvGrpSpPr>
          <p:grpSpPr>
            <a:xfrm>
              <a:off x="0" y="-1"/>
              <a:ext cx="1174375" cy="932329"/>
              <a:chOff x="1" y="0"/>
              <a:chExt cx="995082" cy="663388"/>
            </a:xfrm>
          </p:grpSpPr>
          <p:sp>
            <p:nvSpPr>
              <p:cNvPr id="50" name="Google Shape;50;p6"/>
              <p:cNvSpPr/>
              <p:nvPr/>
            </p:nvSpPr>
            <p:spPr>
              <a:xfrm>
                <a:off x="1" y="0"/>
                <a:ext cx="995082" cy="663388"/>
              </a:xfrm>
              <a:custGeom>
                <a:avLst/>
                <a:gdLst/>
                <a:ahLst/>
                <a:cxnLst/>
                <a:rect l="l" t="t" r="r" b="b"/>
                <a:pathLst>
                  <a:path w="7436484" h="5134610" extrusionOk="0">
                    <a:moveTo>
                      <a:pt x="7435941" y="0"/>
                    </a:moveTo>
                    <a:lnTo>
                      <a:pt x="0" y="0"/>
                    </a:lnTo>
                    <a:lnTo>
                      <a:pt x="0" y="5134513"/>
                    </a:lnTo>
                    <a:lnTo>
                      <a:pt x="7435941" y="0"/>
                    </a:lnTo>
                    <a:close/>
                  </a:path>
                </a:pathLst>
              </a:custGeom>
              <a:solidFill>
                <a:srgbClr val="005893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92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" name="Google Shape;51;p6"/>
              <p:cNvSpPr/>
              <p:nvPr/>
            </p:nvSpPr>
            <p:spPr>
              <a:xfrm>
                <a:off x="73957" y="36743"/>
                <a:ext cx="383242" cy="310714"/>
              </a:xfrm>
              <a:prstGeom prst="rect">
                <a:avLst/>
              </a:prstGeom>
              <a:blipFill rotWithShape="1">
                <a:blip r:embed="rId2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92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52" name="Google Shape;52;p6"/>
          <p:cNvSpPr txBox="1"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6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4" name="Google Shape;54;p6"/>
          <p:cNvSpPr txBox="1">
            <a:spLocks noGrp="1"/>
          </p:cNvSpPr>
          <p:nvPr>
            <p:ph type="body" idx="2"/>
          </p:nvPr>
        </p:nvSpPr>
        <p:spPr>
          <a:xfrm>
            <a:off x="839789" y="2505076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5" name="Google Shape;55;p6"/>
          <p:cNvSpPr txBox="1">
            <a:spLocks noGrp="1"/>
          </p:cNvSpPr>
          <p:nvPr>
            <p:ph type="body" idx="3"/>
          </p:nvPr>
        </p:nvSpPr>
        <p:spPr>
          <a:xfrm>
            <a:off x="6172202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6" name="Google Shape;56;p6"/>
          <p:cNvSpPr txBox="1">
            <a:spLocks noGrp="1"/>
          </p:cNvSpPr>
          <p:nvPr>
            <p:ph type="body" idx="4"/>
          </p:nvPr>
        </p:nvSpPr>
        <p:spPr>
          <a:xfrm>
            <a:off x="6172202" y="2505076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6"/>
          <p:cNvSpPr txBox="1">
            <a:spLocks noGrp="1"/>
          </p:cNvSpPr>
          <p:nvPr>
            <p:ph type="dt" idx="10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6"/>
          <p:cNvSpPr txBox="1">
            <a:spLocks noGrp="1"/>
          </p:cNvSpPr>
          <p:nvPr>
            <p:ph type="ftr" idx="11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6"/>
          <p:cNvSpPr txBox="1">
            <a:spLocks noGrp="1"/>
          </p:cNvSpPr>
          <p:nvPr>
            <p:ph type="sldNum" idx="12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60" name="Google Shape;60;p6"/>
          <p:cNvGrpSpPr/>
          <p:nvPr/>
        </p:nvGrpSpPr>
        <p:grpSpPr>
          <a:xfrm>
            <a:off x="9842217" y="17838"/>
            <a:ext cx="2313924" cy="600635"/>
            <a:chOff x="9682912" y="8965"/>
            <a:chExt cx="2402541" cy="600635"/>
          </a:xfrm>
        </p:grpSpPr>
        <p:sp>
          <p:nvSpPr>
            <p:cNvPr id="61" name="Google Shape;61;p6"/>
            <p:cNvSpPr/>
            <p:nvPr/>
          </p:nvSpPr>
          <p:spPr>
            <a:xfrm>
              <a:off x="9682912" y="8965"/>
              <a:ext cx="2402541" cy="600635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9050" cap="flat" cmpd="sng">
              <a:solidFill>
                <a:srgbClr val="00206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62;p6"/>
            <p:cNvSpPr txBox="1"/>
            <p:nvPr/>
          </p:nvSpPr>
          <p:spPr>
            <a:xfrm>
              <a:off x="9803934" y="193190"/>
              <a:ext cx="2160495" cy="2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7700" rIns="0" bIns="0" anchor="t" anchorCtr="0">
              <a:spAutoFit/>
            </a:bodyPr>
            <a:lstStyle/>
            <a:p>
              <a:pPr marL="7701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400" b="1" i="1">
                  <a:solidFill>
                    <a:srgbClr val="422C75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Go, change the world</a:t>
              </a:r>
              <a:endParaRPr sz="1400" b="1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7"/>
          <p:cNvSpPr/>
          <p:nvPr/>
        </p:nvSpPr>
        <p:spPr>
          <a:xfrm>
            <a:off x="856" y="0"/>
            <a:ext cx="12191145" cy="6858000"/>
          </a:xfrm>
          <a:prstGeom prst="rect">
            <a:avLst/>
          </a:prstGeom>
          <a:solidFill>
            <a:schemeClr val="lt1">
              <a:alpha val="98823"/>
            </a:schemeClr>
          </a:solidFill>
          <a:ln w="76200" cap="flat" cmpd="sng">
            <a:solidFill>
              <a:srgbClr val="00589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92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7"/>
          <p:cNvSpPr txBox="1"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7"/>
          <p:cNvSpPr txBox="1">
            <a:spLocks noGrp="1"/>
          </p:cNvSpPr>
          <p:nvPr>
            <p:ph type="dt" idx="10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ftr" idx="11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69" name="Google Shape;69;p7"/>
          <p:cNvGrpSpPr/>
          <p:nvPr/>
        </p:nvGrpSpPr>
        <p:grpSpPr>
          <a:xfrm>
            <a:off x="0" y="1"/>
            <a:ext cx="1174375" cy="932329"/>
            <a:chOff x="1" y="0"/>
            <a:chExt cx="995082" cy="663388"/>
          </a:xfrm>
        </p:grpSpPr>
        <p:sp>
          <p:nvSpPr>
            <p:cNvPr id="70" name="Google Shape;70;p7"/>
            <p:cNvSpPr/>
            <p:nvPr/>
          </p:nvSpPr>
          <p:spPr>
            <a:xfrm>
              <a:off x="1" y="0"/>
              <a:ext cx="995082" cy="663388"/>
            </a:xfrm>
            <a:custGeom>
              <a:avLst/>
              <a:gdLst/>
              <a:ahLst/>
              <a:cxnLst/>
              <a:rect l="l" t="t" r="r" b="b"/>
              <a:pathLst>
                <a:path w="7436484" h="5134610" extrusionOk="0">
                  <a:moveTo>
                    <a:pt x="7435941" y="0"/>
                  </a:moveTo>
                  <a:lnTo>
                    <a:pt x="0" y="0"/>
                  </a:lnTo>
                  <a:lnTo>
                    <a:pt x="0" y="5134513"/>
                  </a:lnTo>
                  <a:lnTo>
                    <a:pt x="7435941" y="0"/>
                  </a:lnTo>
                  <a:close/>
                </a:path>
              </a:pathLst>
            </a:custGeom>
            <a:solidFill>
              <a:srgbClr val="00589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9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71;p7"/>
            <p:cNvSpPr/>
            <p:nvPr/>
          </p:nvSpPr>
          <p:spPr>
            <a:xfrm>
              <a:off x="73957" y="36743"/>
              <a:ext cx="383242" cy="310714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9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2" name="Google Shape;72;p7"/>
          <p:cNvGrpSpPr/>
          <p:nvPr/>
        </p:nvGrpSpPr>
        <p:grpSpPr>
          <a:xfrm>
            <a:off x="9842217" y="17838"/>
            <a:ext cx="2313924" cy="600635"/>
            <a:chOff x="9682912" y="8965"/>
            <a:chExt cx="2402541" cy="600635"/>
          </a:xfrm>
        </p:grpSpPr>
        <p:sp>
          <p:nvSpPr>
            <p:cNvPr id="73" name="Google Shape;73;p7"/>
            <p:cNvSpPr/>
            <p:nvPr/>
          </p:nvSpPr>
          <p:spPr>
            <a:xfrm>
              <a:off x="9682912" y="8965"/>
              <a:ext cx="2402541" cy="600635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9050" cap="flat" cmpd="sng">
              <a:solidFill>
                <a:srgbClr val="00206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74;p7"/>
            <p:cNvSpPr txBox="1"/>
            <p:nvPr/>
          </p:nvSpPr>
          <p:spPr>
            <a:xfrm>
              <a:off x="9803934" y="193190"/>
              <a:ext cx="2160495" cy="2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7700" rIns="0" bIns="0" anchor="t" anchorCtr="0">
              <a:spAutoFit/>
            </a:bodyPr>
            <a:lstStyle/>
            <a:p>
              <a:pPr marL="7701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400" b="1" i="1">
                  <a:solidFill>
                    <a:srgbClr val="422C75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Go, change the world</a:t>
              </a:r>
              <a:endParaRPr sz="1400" b="1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8"/>
          <p:cNvSpPr/>
          <p:nvPr/>
        </p:nvSpPr>
        <p:spPr>
          <a:xfrm>
            <a:off x="856" y="0"/>
            <a:ext cx="12191145" cy="6858000"/>
          </a:xfrm>
          <a:prstGeom prst="rect">
            <a:avLst/>
          </a:prstGeom>
          <a:solidFill>
            <a:schemeClr val="lt1">
              <a:alpha val="98823"/>
            </a:schemeClr>
          </a:solidFill>
          <a:ln w="76200" cap="flat" cmpd="sng">
            <a:solidFill>
              <a:srgbClr val="00589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92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8"/>
          <p:cNvSpPr txBox="1">
            <a:spLocks noGrp="1"/>
          </p:cNvSpPr>
          <p:nvPr>
            <p:ph type="dt" idx="10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"/>
          <p:cNvSpPr txBox="1">
            <a:spLocks noGrp="1"/>
          </p:cNvSpPr>
          <p:nvPr>
            <p:ph type="ftr" idx="11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"/>
          <p:cNvSpPr txBox="1">
            <a:spLocks noGrp="1"/>
          </p:cNvSpPr>
          <p:nvPr>
            <p:ph type="sldNum" idx="12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9842217" y="17838"/>
            <a:ext cx="2313924" cy="600635"/>
            <a:chOff x="9682912" y="8965"/>
            <a:chExt cx="2402541" cy="600635"/>
          </a:xfrm>
        </p:grpSpPr>
        <p:sp>
          <p:nvSpPr>
            <p:cNvPr id="81" name="Google Shape;81;p8"/>
            <p:cNvSpPr/>
            <p:nvPr/>
          </p:nvSpPr>
          <p:spPr>
            <a:xfrm>
              <a:off x="9682912" y="8965"/>
              <a:ext cx="2402541" cy="600635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9050" cap="flat" cmpd="sng">
              <a:solidFill>
                <a:srgbClr val="00206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" name="Google Shape;82;p8"/>
            <p:cNvSpPr txBox="1"/>
            <p:nvPr/>
          </p:nvSpPr>
          <p:spPr>
            <a:xfrm>
              <a:off x="9803934" y="193190"/>
              <a:ext cx="2160495" cy="2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7700" rIns="0" bIns="0" anchor="t" anchorCtr="0">
              <a:spAutoFit/>
            </a:bodyPr>
            <a:lstStyle/>
            <a:p>
              <a:pPr marL="7701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400" b="1" i="1">
                  <a:solidFill>
                    <a:srgbClr val="422C75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Go, change the world</a:t>
              </a:r>
              <a:endParaRPr sz="1400" b="1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</p:grpSp>
      <p:grpSp>
        <p:nvGrpSpPr>
          <p:cNvPr id="83" name="Google Shape;83;p8"/>
          <p:cNvGrpSpPr/>
          <p:nvPr/>
        </p:nvGrpSpPr>
        <p:grpSpPr>
          <a:xfrm>
            <a:off x="0" y="1"/>
            <a:ext cx="1174375" cy="932329"/>
            <a:chOff x="1" y="0"/>
            <a:chExt cx="995082" cy="663388"/>
          </a:xfrm>
        </p:grpSpPr>
        <p:sp>
          <p:nvSpPr>
            <p:cNvPr id="84" name="Google Shape;84;p8"/>
            <p:cNvSpPr/>
            <p:nvPr/>
          </p:nvSpPr>
          <p:spPr>
            <a:xfrm>
              <a:off x="1" y="0"/>
              <a:ext cx="995082" cy="663388"/>
            </a:xfrm>
            <a:custGeom>
              <a:avLst/>
              <a:gdLst/>
              <a:ahLst/>
              <a:cxnLst/>
              <a:rect l="l" t="t" r="r" b="b"/>
              <a:pathLst>
                <a:path w="7436484" h="5134610" extrusionOk="0">
                  <a:moveTo>
                    <a:pt x="7435941" y="0"/>
                  </a:moveTo>
                  <a:lnTo>
                    <a:pt x="0" y="0"/>
                  </a:lnTo>
                  <a:lnTo>
                    <a:pt x="0" y="5134513"/>
                  </a:lnTo>
                  <a:lnTo>
                    <a:pt x="7435941" y="0"/>
                  </a:lnTo>
                  <a:close/>
                </a:path>
              </a:pathLst>
            </a:custGeom>
            <a:solidFill>
              <a:srgbClr val="005893"/>
            </a:solid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9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85;p8"/>
            <p:cNvSpPr/>
            <p:nvPr/>
          </p:nvSpPr>
          <p:spPr>
            <a:xfrm>
              <a:off x="73957" y="36743"/>
              <a:ext cx="383242" cy="310714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92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86" name="Google Shape;86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51096" y="1605964"/>
            <a:ext cx="5889812" cy="3646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Google Shape;88;p9"/>
          <p:cNvGrpSpPr/>
          <p:nvPr/>
        </p:nvGrpSpPr>
        <p:grpSpPr>
          <a:xfrm>
            <a:off x="-35002" y="0"/>
            <a:ext cx="12191145" cy="6858000"/>
            <a:chOff x="-35003" y="-1"/>
            <a:chExt cx="12191144" cy="6858000"/>
          </a:xfrm>
        </p:grpSpPr>
        <p:sp>
          <p:nvSpPr>
            <p:cNvPr id="89" name="Google Shape;89;p9"/>
            <p:cNvSpPr/>
            <p:nvPr/>
          </p:nvSpPr>
          <p:spPr>
            <a:xfrm>
              <a:off x="-35003" y="-1"/>
              <a:ext cx="12191144" cy="6858000"/>
            </a:xfrm>
            <a:prstGeom prst="rect">
              <a:avLst/>
            </a:prstGeom>
            <a:solidFill>
              <a:schemeClr val="lt1">
                <a:alpha val="98823"/>
              </a:schemeClr>
            </a:solidFill>
            <a:ln w="76200" cap="flat" cmpd="sng">
              <a:solidFill>
                <a:srgbClr val="005893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92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0" name="Google Shape;90;p9"/>
            <p:cNvGrpSpPr/>
            <p:nvPr/>
          </p:nvGrpSpPr>
          <p:grpSpPr>
            <a:xfrm>
              <a:off x="0" y="-1"/>
              <a:ext cx="1174375" cy="932329"/>
              <a:chOff x="1" y="0"/>
              <a:chExt cx="995082" cy="663388"/>
            </a:xfrm>
          </p:grpSpPr>
          <p:sp>
            <p:nvSpPr>
              <p:cNvPr id="91" name="Google Shape;91;p9"/>
              <p:cNvSpPr/>
              <p:nvPr/>
            </p:nvSpPr>
            <p:spPr>
              <a:xfrm>
                <a:off x="1" y="0"/>
                <a:ext cx="995082" cy="663388"/>
              </a:xfrm>
              <a:custGeom>
                <a:avLst/>
                <a:gdLst/>
                <a:ahLst/>
                <a:cxnLst/>
                <a:rect l="l" t="t" r="r" b="b"/>
                <a:pathLst>
                  <a:path w="7436484" h="5134610" extrusionOk="0">
                    <a:moveTo>
                      <a:pt x="7435941" y="0"/>
                    </a:moveTo>
                    <a:lnTo>
                      <a:pt x="0" y="0"/>
                    </a:lnTo>
                    <a:lnTo>
                      <a:pt x="0" y="5134513"/>
                    </a:lnTo>
                    <a:lnTo>
                      <a:pt x="7435941" y="0"/>
                    </a:lnTo>
                    <a:close/>
                  </a:path>
                </a:pathLst>
              </a:custGeom>
              <a:solidFill>
                <a:srgbClr val="005893"/>
              </a:solid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92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" name="Google Shape;92;p9"/>
              <p:cNvSpPr/>
              <p:nvPr/>
            </p:nvSpPr>
            <p:spPr>
              <a:xfrm>
                <a:off x="73957" y="36743"/>
                <a:ext cx="383242" cy="310714"/>
              </a:xfrm>
              <a:prstGeom prst="rect">
                <a:avLst/>
              </a:prstGeom>
              <a:blipFill rotWithShape="1">
                <a:blip r:embed="rId2">
                  <a:alphaModFix/>
                </a:blip>
                <a:stretch>
                  <a:fillRect/>
                </a:stretch>
              </a:blipFill>
              <a:ln>
                <a:noFill/>
              </a:ln>
            </p:spPr>
            <p:txBody>
              <a:bodyPr spcFirstLastPara="1" wrap="square" lIns="0" tIns="0" rIns="0" bIns="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092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93" name="Google Shape;93;p9"/>
          <p:cNvSpPr txBox="1"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1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95" name="Google Shape;95;p9"/>
          <p:cNvSpPr txBox="1">
            <a:spLocks noGrp="1"/>
          </p:cNvSpPr>
          <p:nvPr>
            <p:ph type="body" idx="2"/>
          </p:nvPr>
        </p:nvSpPr>
        <p:spPr>
          <a:xfrm>
            <a:off x="839790" y="2057400"/>
            <a:ext cx="3932236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dt" idx="10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ftr" idx="11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grpSp>
        <p:nvGrpSpPr>
          <p:cNvPr id="99" name="Google Shape;99;p9"/>
          <p:cNvGrpSpPr/>
          <p:nvPr/>
        </p:nvGrpSpPr>
        <p:grpSpPr>
          <a:xfrm>
            <a:off x="9842217" y="17838"/>
            <a:ext cx="2313924" cy="600635"/>
            <a:chOff x="9682912" y="8965"/>
            <a:chExt cx="2402541" cy="600635"/>
          </a:xfrm>
        </p:grpSpPr>
        <p:sp>
          <p:nvSpPr>
            <p:cNvPr id="100" name="Google Shape;100;p9"/>
            <p:cNvSpPr/>
            <p:nvPr/>
          </p:nvSpPr>
          <p:spPr>
            <a:xfrm>
              <a:off x="9682912" y="8965"/>
              <a:ext cx="2402541" cy="600635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9050" cap="flat" cmpd="sng">
              <a:solidFill>
                <a:srgbClr val="00206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9"/>
            <p:cNvSpPr txBox="1"/>
            <p:nvPr/>
          </p:nvSpPr>
          <p:spPr>
            <a:xfrm>
              <a:off x="9803934" y="193190"/>
              <a:ext cx="2160495" cy="2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7700" rIns="0" bIns="0" anchor="t" anchorCtr="0">
              <a:spAutoFit/>
            </a:bodyPr>
            <a:lstStyle/>
            <a:p>
              <a:pPr marL="7701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400" b="1" i="1">
                  <a:solidFill>
                    <a:srgbClr val="422C75"/>
                  </a:solidFill>
                  <a:latin typeface="Bookman Old Style"/>
                  <a:ea typeface="Bookman Old Style"/>
                  <a:cs typeface="Bookman Old Style"/>
                  <a:sym typeface="Bookman Old Style"/>
                </a:rPr>
                <a:t>Go, change the world</a:t>
              </a:r>
              <a:endParaRPr sz="1400" b="1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0"/>
          <p:cNvSpPr txBox="1"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1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05" name="Google Shape;105;p10"/>
          <p:cNvSpPr txBox="1">
            <a:spLocks noGrp="1"/>
          </p:cNvSpPr>
          <p:nvPr>
            <p:ph type="body" idx="1"/>
          </p:nvPr>
        </p:nvSpPr>
        <p:spPr>
          <a:xfrm>
            <a:off x="839790" y="2057400"/>
            <a:ext cx="3932236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06" name="Google Shape;106;p10"/>
          <p:cNvSpPr txBox="1">
            <a:spLocks noGrp="1"/>
          </p:cNvSpPr>
          <p:nvPr>
            <p:ph type="dt" idx="10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10"/>
          <p:cNvSpPr txBox="1">
            <a:spLocks noGrp="1"/>
          </p:cNvSpPr>
          <p:nvPr>
            <p:ph type="ftr" idx="11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0"/>
          <p:cNvSpPr txBox="1">
            <a:spLocks noGrp="1"/>
          </p:cNvSpPr>
          <p:nvPr>
            <p:ph type="sldNum" idx="12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 txBox="1"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1"/>
          <p:cNvSpPr txBox="1">
            <a:spLocks noGrp="1"/>
          </p:cNvSpPr>
          <p:nvPr>
            <p:ph type="body" idx="1"/>
          </p:nvPr>
        </p:nvSpPr>
        <p:spPr>
          <a:xfrm rot="5400000">
            <a:off x="3920333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2" name="Google Shape;112;p11"/>
          <p:cNvSpPr txBox="1">
            <a:spLocks noGrp="1"/>
          </p:cNvSpPr>
          <p:nvPr>
            <p:ph type="dt" idx="10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1"/>
          <p:cNvSpPr txBox="1">
            <a:spLocks noGrp="1"/>
          </p:cNvSpPr>
          <p:nvPr>
            <p:ph type="ftr" idx="11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1"/>
          <p:cNvSpPr txBox="1">
            <a:spLocks noGrp="1"/>
          </p:cNvSpPr>
          <p:nvPr>
            <p:ph type="sldNum" idx="12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2"/>
          <p:cNvSpPr txBox="1">
            <a:spLocks noGrp="1"/>
          </p:cNvSpPr>
          <p:nvPr>
            <p:ph type="title"/>
          </p:nvPr>
        </p:nvSpPr>
        <p:spPr>
          <a:xfrm rot="5400000">
            <a:off x="7133430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2"/>
          <p:cNvSpPr txBox="1">
            <a:spLocks noGrp="1"/>
          </p:cNvSpPr>
          <p:nvPr>
            <p:ph type="body" idx="1"/>
          </p:nvPr>
        </p:nvSpPr>
        <p:spPr>
          <a:xfrm rot="5400000">
            <a:off x="1799430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12"/>
          <p:cNvSpPr txBox="1">
            <a:spLocks noGrp="1"/>
          </p:cNvSpPr>
          <p:nvPr>
            <p:ph type="dt" idx="10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12"/>
          <p:cNvSpPr txBox="1">
            <a:spLocks noGrp="1"/>
          </p:cNvSpPr>
          <p:nvPr>
            <p:ph type="ftr" idx="11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2"/>
          <p:cNvSpPr txBox="1">
            <a:spLocks noGrp="1"/>
          </p:cNvSpPr>
          <p:nvPr>
            <p:ph type="sldNum" idx="12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.xml"/><Relationship Id="rId5" Type="http://schemas.openxmlformats.org/officeDocument/2006/relationships/image" Target="../media/image6.png"/><Relationship Id="rId4" Type="http://schemas.openxmlformats.org/officeDocument/2006/relationships/customXml" Target="../ink/ink1.xml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jpg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wiki.dfrobot.com/Capacitive_Soil_Moisture_Sensor_SKU_SEN0193" TargetMode="External"/><Relationship Id="rId7" Type="http://schemas.openxmlformats.org/officeDocument/2006/relationships/hyperlink" Target="https://github.com/fmalpartida/New-LiquidCrystal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docs.arduino.cc/software/ide-v2" TargetMode="External"/><Relationship Id="rId5" Type="http://schemas.openxmlformats.org/officeDocument/2006/relationships/hyperlink" Target="https://www.robotdyn.com/mt3608-dc-dc-boost.html" TargetMode="External"/><Relationship Id="rId4" Type="http://schemas.openxmlformats.org/officeDocument/2006/relationships/hyperlink" Target="https://www.lilygo.cc/products/tp4056-charging-module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3"/>
          <p:cNvSpPr txBox="1">
            <a:spLocks noGrp="1"/>
          </p:cNvSpPr>
          <p:nvPr>
            <p:ph type="body" idx="1"/>
          </p:nvPr>
        </p:nvSpPr>
        <p:spPr>
          <a:xfrm>
            <a:off x="174813" y="1258282"/>
            <a:ext cx="11842500" cy="4918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13"/>
          <p:cNvSpPr txBox="1">
            <a:spLocks noGrp="1"/>
          </p:cNvSpPr>
          <p:nvPr>
            <p:ph type="sldNum" idx="12"/>
          </p:nvPr>
        </p:nvSpPr>
        <p:spPr>
          <a:xfrm>
            <a:off x="9273988" y="6347205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1</a:t>
            </a:fld>
            <a:endParaRPr/>
          </a:p>
        </p:txBody>
      </p:sp>
      <p:pic>
        <p:nvPicPr>
          <p:cNvPr id="128" name="Google Shape;128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1500" y="-17700"/>
            <a:ext cx="12192000" cy="687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>
            <a:spLocks noGrp="1"/>
          </p:cNvSpPr>
          <p:nvPr>
            <p:ph type="dt" idx="10"/>
          </p:nvPr>
        </p:nvSpPr>
        <p:spPr>
          <a:xfrm>
            <a:off x="174812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Wednesday, 02 July 2025</a:t>
            </a:r>
            <a:endParaRPr dirty="0"/>
          </a:p>
        </p:txBody>
      </p:sp>
      <p:sp>
        <p:nvSpPr>
          <p:cNvPr id="135" name="Google Shape;135;p14"/>
          <p:cNvSpPr txBox="1">
            <a:spLocks noGrp="1"/>
          </p:cNvSpPr>
          <p:nvPr>
            <p:ph type="sldNum" idx="12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2</a:t>
            </a:fld>
            <a:endParaRPr/>
          </a:p>
        </p:txBody>
      </p:sp>
      <p:sp>
        <p:nvSpPr>
          <p:cNvPr id="137" name="Google Shape;137;p14"/>
          <p:cNvSpPr txBox="1"/>
          <p:nvPr/>
        </p:nvSpPr>
        <p:spPr>
          <a:xfrm>
            <a:off x="273503" y="4671067"/>
            <a:ext cx="4001246" cy="1676137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3" name="Google Shape;143;p14"/>
          <p:cNvSpPr txBox="1"/>
          <p:nvPr/>
        </p:nvSpPr>
        <p:spPr>
          <a:xfrm>
            <a:off x="9981122" y="6002768"/>
            <a:ext cx="18288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5" name="Google Shape;145;p14"/>
          <p:cNvSpPr txBox="1"/>
          <p:nvPr/>
        </p:nvSpPr>
        <p:spPr>
          <a:xfrm>
            <a:off x="9470568" y="3081017"/>
            <a:ext cx="658167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47" name="Google Shape;14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35617"/>
            <a:ext cx="12192000" cy="6382822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F74F3E5-1B50-9306-8373-EA02F9B3D62F}"/>
                  </a:ext>
                </a:extLst>
              </p14:cNvPr>
              <p14:cNvContentPartPr/>
              <p14:nvPr/>
            </p14:nvContentPartPr>
            <p14:xfrm>
              <a:off x="5258349" y="5983080"/>
              <a:ext cx="1553040" cy="30204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F74F3E5-1B50-9306-8373-EA02F9B3D62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252229" y="5976960"/>
                <a:ext cx="1565280" cy="31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798342A-EAA7-E1E8-FE15-7737FD3331A3}"/>
                  </a:ext>
                </a:extLst>
              </p14:cNvPr>
              <p14:cNvContentPartPr/>
              <p14:nvPr/>
            </p14:nvContentPartPr>
            <p14:xfrm>
              <a:off x="5746060" y="6001070"/>
              <a:ext cx="1236240" cy="536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798342A-EAA7-E1E8-FE15-7737FD3331A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739940" y="5994950"/>
                <a:ext cx="1248480" cy="6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319C99C-F25A-3DDE-9CED-2B133FB85E9E}"/>
                  </a:ext>
                </a:extLst>
              </p14:cNvPr>
              <p14:cNvContentPartPr/>
              <p14:nvPr/>
            </p14:nvContentPartPr>
            <p14:xfrm>
              <a:off x="5398300" y="6029150"/>
              <a:ext cx="1396080" cy="2329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319C99C-F25A-3DDE-9CED-2B133FB85E9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335660" y="5966510"/>
                <a:ext cx="1521720" cy="358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5"/>
          <p:cNvSpPr txBox="1">
            <a:spLocks noGrp="1"/>
          </p:cNvSpPr>
          <p:nvPr>
            <p:ph type="dt" idx="10"/>
          </p:nvPr>
        </p:nvSpPr>
        <p:spPr>
          <a:xfrm>
            <a:off x="174812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IN" dirty="0"/>
              <a:t>Wednesday, 02 July 2025</a:t>
            </a:r>
          </a:p>
        </p:txBody>
      </p:sp>
      <p:sp>
        <p:nvSpPr>
          <p:cNvPr id="154" name="Google Shape;154;p15"/>
          <p:cNvSpPr txBox="1">
            <a:spLocks noGrp="1"/>
          </p:cNvSpPr>
          <p:nvPr>
            <p:ph type="sldNum" idx="12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3</a:t>
            </a:fld>
            <a:endParaRPr/>
          </a:p>
        </p:txBody>
      </p:sp>
      <p:sp>
        <p:nvSpPr>
          <p:cNvPr id="155" name="Google Shape;155;p15"/>
          <p:cNvSpPr txBox="1"/>
          <p:nvPr/>
        </p:nvSpPr>
        <p:spPr>
          <a:xfrm>
            <a:off x="2339498" y="178833"/>
            <a:ext cx="8551282" cy="638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endParaRPr sz="3200" b="1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5"/>
          <p:cNvSpPr txBox="1"/>
          <p:nvPr/>
        </p:nvSpPr>
        <p:spPr>
          <a:xfrm>
            <a:off x="2182762" y="89748"/>
            <a:ext cx="8151863" cy="892386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EL Phase-III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Presentation Outline</a:t>
            </a:r>
            <a:endParaRPr/>
          </a:p>
        </p:txBody>
      </p:sp>
      <p:sp>
        <p:nvSpPr>
          <p:cNvPr id="157" name="Google Shape;157;p15"/>
          <p:cNvSpPr txBox="1">
            <a:spLocks noGrp="1"/>
          </p:cNvSpPr>
          <p:nvPr>
            <p:ph type="body" idx="1"/>
          </p:nvPr>
        </p:nvSpPr>
        <p:spPr>
          <a:xfrm>
            <a:off x="265205" y="1121316"/>
            <a:ext cx="11661590" cy="54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ct val="100000"/>
              <a:buChar char="•"/>
            </a:pPr>
            <a:r>
              <a:rPr lang="en-IN" dirty="0"/>
              <a:t>Introduction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0000"/>
              <a:buChar char="•"/>
            </a:pPr>
            <a:r>
              <a:rPr lang="en-IN" dirty="0"/>
              <a:t>Problem Statement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0000"/>
              <a:buChar char="•"/>
            </a:pPr>
            <a:r>
              <a:rPr lang="en-IN" dirty="0"/>
              <a:t>Objectives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0000"/>
              <a:buChar char="•"/>
            </a:pPr>
            <a:r>
              <a:rPr lang="en-IN" dirty="0"/>
              <a:t>Literature Review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0000"/>
              <a:buChar char="•"/>
            </a:pPr>
            <a:r>
              <a:rPr lang="en-IN" dirty="0"/>
              <a:t>Methodology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0000"/>
              <a:buChar char="•"/>
            </a:pPr>
            <a:r>
              <a:rPr lang="en-IN" dirty="0"/>
              <a:t>Design and Implementation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0000"/>
              <a:buChar char="•"/>
            </a:pPr>
            <a:r>
              <a:rPr lang="en-IN" dirty="0"/>
              <a:t>Components and Tools used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0000"/>
              <a:buChar char="•"/>
            </a:pPr>
            <a:r>
              <a:rPr lang="en-IN" dirty="0"/>
              <a:t>Results/Simulation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0000"/>
              <a:buChar char="•"/>
            </a:pPr>
            <a:r>
              <a:rPr lang="en-IN" dirty="0"/>
              <a:t>Challenges Faced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0000"/>
              <a:buChar char="•"/>
            </a:pPr>
            <a:r>
              <a:rPr lang="en-IN" dirty="0"/>
              <a:t>Final Outcome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0000"/>
              <a:buChar char="•"/>
            </a:pPr>
            <a:r>
              <a:rPr lang="en-IN" dirty="0"/>
              <a:t>Applications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0000"/>
              <a:buChar char="•"/>
            </a:pPr>
            <a:r>
              <a:rPr lang="en-IN" dirty="0"/>
              <a:t>Future Scope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0000"/>
              <a:buChar char="•"/>
            </a:pPr>
            <a:r>
              <a:rPr lang="en-IN" dirty="0"/>
              <a:t>Conclusion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2060"/>
              </a:buClr>
              <a:buSzPct val="100000"/>
              <a:buChar char="•"/>
            </a:pPr>
            <a:r>
              <a:rPr lang="en-IN" dirty="0"/>
              <a:t>References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6"/>
          <p:cNvSpPr txBox="1">
            <a:spLocks noGrp="1"/>
          </p:cNvSpPr>
          <p:nvPr>
            <p:ph type="body" idx="1"/>
          </p:nvPr>
        </p:nvSpPr>
        <p:spPr>
          <a:xfrm>
            <a:off x="0" y="985075"/>
            <a:ext cx="12192000" cy="52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13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IN" sz="2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Agriculture in India faces growing challenges due to poor soil management.</a:t>
            </a:r>
            <a:br>
              <a:rPr lang="en-IN" sz="2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2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IN" sz="2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Soil health directly affects crop productivity and environmental sustainability.</a:t>
            </a:r>
            <a:br>
              <a:rPr lang="en-IN" sz="2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2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IN" sz="2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Our project provides a real-time soil parameter monitoring system using sensors and microcontroller-based hardware.</a:t>
            </a:r>
            <a:br>
              <a:rPr lang="en-IN" sz="2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2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●"/>
            </a:pPr>
            <a:r>
              <a:rPr lang="en-IN" sz="2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Aimed at empowering rural farmers with actionable data to make smarter decisions.</a:t>
            </a:r>
            <a:endParaRPr sz="22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b="1" dirty="0"/>
          </a:p>
        </p:txBody>
      </p:sp>
      <p:sp>
        <p:nvSpPr>
          <p:cNvPr id="163" name="Google Shape;163;p16"/>
          <p:cNvSpPr txBox="1">
            <a:spLocks noGrp="1"/>
          </p:cNvSpPr>
          <p:nvPr>
            <p:ph type="dt" idx="10"/>
          </p:nvPr>
        </p:nvSpPr>
        <p:spPr>
          <a:xfrm>
            <a:off x="174812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IN" dirty="0"/>
              <a:t>Wednesday, 02 July 2025</a:t>
            </a:r>
          </a:p>
        </p:txBody>
      </p:sp>
      <p:sp>
        <p:nvSpPr>
          <p:cNvPr id="164" name="Google Shape;164;p16"/>
          <p:cNvSpPr txBox="1">
            <a:spLocks noGrp="1"/>
          </p:cNvSpPr>
          <p:nvPr>
            <p:ph type="sldNum" idx="12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Slide No. </a:t>
            </a:r>
            <a:fld id="{00000000-1234-1234-1234-123412341234}" type="slidenum">
              <a:rPr lang="en-IN"/>
              <a:t>4</a:t>
            </a:fld>
            <a:endParaRPr/>
          </a:p>
        </p:txBody>
      </p:sp>
      <p:sp>
        <p:nvSpPr>
          <p:cNvPr id="165" name="Google Shape;165;p16"/>
          <p:cNvSpPr txBox="1"/>
          <p:nvPr/>
        </p:nvSpPr>
        <p:spPr>
          <a:xfrm>
            <a:off x="1386895" y="145670"/>
            <a:ext cx="9834426" cy="839401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b="1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Introduction</a:t>
            </a:r>
            <a:endParaRPr sz="4000" b="1">
              <a:solidFill>
                <a:srgbClr val="C0000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7"/>
          <p:cNvSpPr txBox="1">
            <a:spLocks noGrp="1"/>
          </p:cNvSpPr>
          <p:nvPr>
            <p:ph type="body" idx="1"/>
          </p:nvPr>
        </p:nvSpPr>
        <p:spPr>
          <a:xfrm>
            <a:off x="0" y="985075"/>
            <a:ext cx="12192000" cy="587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Farmers in rural and semi-urban parts of Karnataka often face difficulties because they don’t have </a:t>
            </a:r>
            <a:r>
              <a:rPr lang="en-IN" sz="15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simple tools</a:t>
            </a:r>
            <a:r>
              <a:rPr lang="en-IN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to:</a:t>
            </a:r>
            <a:endParaRPr sz="15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IN" sz="15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Check soil moisture and pH</a:t>
            </a:r>
            <a:r>
              <a:rPr lang="en-IN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 real-time.</a:t>
            </a:r>
            <a:br>
              <a:rPr lang="en-IN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IN" sz="15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Decide when to water</a:t>
            </a:r>
            <a:r>
              <a:rPr lang="en-IN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their crops or add fertilizers.</a:t>
            </a:r>
            <a:endParaRPr sz="15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IN" sz="15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current solutions</a:t>
            </a:r>
            <a:r>
              <a:rPr lang="en-IN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available in the market have some major drawbacks:</a:t>
            </a:r>
            <a:endParaRPr sz="15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IN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They are </a:t>
            </a:r>
            <a:r>
              <a:rPr lang="en-IN" sz="15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too expensive</a:t>
            </a:r>
            <a:r>
              <a:rPr lang="en-IN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small farmers.</a:t>
            </a:r>
            <a:br>
              <a:rPr lang="en-IN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IN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They are </a:t>
            </a:r>
            <a:r>
              <a:rPr lang="en-IN" sz="15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 easy to carry</a:t>
            </a:r>
            <a:r>
              <a:rPr lang="en-IN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or use in the fields.</a:t>
            </a:r>
            <a:br>
              <a:rPr lang="en-IN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IN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They often need </a:t>
            </a:r>
            <a:r>
              <a:rPr lang="en-IN" sz="15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technical knowledge</a:t>
            </a:r>
            <a:r>
              <a:rPr lang="en-IN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which many farmers may not have.</a:t>
            </a:r>
            <a:endParaRPr lang="en-US" sz="15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Because of this, many farmers:</a:t>
            </a:r>
          </a:p>
          <a:p>
            <a:pPr marL="457200" lvl="0" indent="-3238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IN" sz="15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too much or too little water</a:t>
            </a:r>
            <a:r>
              <a:rPr lang="en-IN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which harms crops.</a:t>
            </a:r>
            <a:br>
              <a:rPr lang="en-IN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IN" sz="15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Damage the soil</a:t>
            </a:r>
            <a:r>
              <a:rPr lang="en-IN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over time due to wrong pH and poor water management.</a:t>
            </a:r>
            <a:br>
              <a:rPr lang="en-IN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38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-IN" sz="15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Waste resources</a:t>
            </a:r>
            <a:r>
              <a:rPr lang="en-IN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like water and fertilizers, increasing farming costs.</a:t>
            </a:r>
            <a:br>
              <a:rPr lang="en-IN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5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17"/>
          <p:cNvSpPr txBox="1">
            <a:spLocks noGrp="1"/>
          </p:cNvSpPr>
          <p:nvPr>
            <p:ph type="dt" idx="10"/>
          </p:nvPr>
        </p:nvSpPr>
        <p:spPr>
          <a:xfrm>
            <a:off x="174812" y="634720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dirty="0"/>
              <a:t>Wednesday, 02 July 2025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2" name="Google Shape;172;p17"/>
          <p:cNvSpPr txBox="1">
            <a:spLocks noGrp="1"/>
          </p:cNvSpPr>
          <p:nvPr>
            <p:ph type="sldNum" idx="12"/>
          </p:nvPr>
        </p:nvSpPr>
        <p:spPr>
          <a:xfrm>
            <a:off x="9273988" y="634720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Slide No. </a:t>
            </a:r>
            <a:fld id="{00000000-1234-1234-1234-123412341234}" type="slidenum">
              <a:rPr lang="en-IN"/>
              <a:t>5</a:t>
            </a:fld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1386895" y="145670"/>
            <a:ext cx="9834300" cy="839400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b="1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Problem Statement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8"/>
          <p:cNvSpPr txBox="1">
            <a:spLocks noGrp="1"/>
          </p:cNvSpPr>
          <p:nvPr>
            <p:ph type="body" idx="1"/>
          </p:nvPr>
        </p:nvSpPr>
        <p:spPr>
          <a:xfrm>
            <a:off x="174813" y="1258282"/>
            <a:ext cx="11842377" cy="4918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619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IN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Develop a </a:t>
            </a:r>
            <a:r>
              <a:rPr lang="en-IN" sz="21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low-cost</a:t>
            </a:r>
            <a:r>
              <a:rPr lang="en-IN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IN" sz="21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portable</a:t>
            </a:r>
            <a:r>
              <a:rPr lang="en-IN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lang="en-IN" sz="21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user-friendly</a:t>
            </a:r>
            <a:r>
              <a:rPr lang="en-IN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real-time soil detection system.</a:t>
            </a:r>
            <a:br>
              <a:rPr lang="en-IN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IN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Measure key parameters: </a:t>
            </a:r>
            <a:r>
              <a:rPr lang="en-IN" sz="21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Moisture</a:t>
            </a:r>
            <a:r>
              <a:rPr lang="en-IN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IN" sz="21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</a:t>
            </a:r>
            <a:r>
              <a:rPr lang="en-IN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and optionally </a:t>
            </a:r>
            <a:r>
              <a:rPr lang="en-IN" sz="21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temperature</a:t>
            </a:r>
            <a:r>
              <a:rPr lang="en-IN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-IN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IN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Enable </a:t>
            </a:r>
            <a:r>
              <a:rPr lang="en-IN" sz="21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automatic irrigation</a:t>
            </a:r>
            <a:r>
              <a:rPr lang="en-IN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when moisture drops below a threshold.</a:t>
            </a:r>
            <a:br>
              <a:rPr lang="en-IN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IN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Lay groundwork for future upgrades: </a:t>
            </a:r>
            <a:r>
              <a:rPr lang="en-IN" sz="21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IoT connectivity</a:t>
            </a:r>
            <a:r>
              <a:rPr lang="en-IN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IN" sz="21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logging</a:t>
            </a:r>
            <a:r>
              <a:rPr lang="en-IN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IN" sz="21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mobile dashboard</a:t>
            </a:r>
            <a:r>
              <a:rPr lang="en-IN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-IN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619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●"/>
            </a:pPr>
            <a:r>
              <a:rPr lang="en-IN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Promote </a:t>
            </a:r>
            <a:r>
              <a:rPr lang="en-IN" sz="21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smart agriculture</a:t>
            </a:r>
            <a:r>
              <a:rPr lang="en-IN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IN" sz="21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eco-friendly practices</a:t>
            </a:r>
            <a:r>
              <a:rPr lang="en-IN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-IN" sz="2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2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3800"/>
          </a:p>
        </p:txBody>
      </p:sp>
      <p:sp>
        <p:nvSpPr>
          <p:cNvPr id="179" name="Google Shape;179;p18"/>
          <p:cNvSpPr txBox="1">
            <a:spLocks noGrp="1"/>
          </p:cNvSpPr>
          <p:nvPr>
            <p:ph type="dt" idx="10"/>
          </p:nvPr>
        </p:nvSpPr>
        <p:spPr>
          <a:xfrm>
            <a:off x="174812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IN" dirty="0"/>
              <a:t>Wednesday, 02 July 2025</a:t>
            </a:r>
          </a:p>
        </p:txBody>
      </p:sp>
      <p:sp>
        <p:nvSpPr>
          <p:cNvPr id="180" name="Google Shape;180;p18"/>
          <p:cNvSpPr txBox="1">
            <a:spLocks noGrp="1"/>
          </p:cNvSpPr>
          <p:nvPr>
            <p:ph type="sldNum" idx="12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Slide No. </a:t>
            </a:r>
            <a:fld id="{00000000-1234-1234-1234-123412341234}" type="slidenum">
              <a:rPr lang="en-IN"/>
              <a:t>6</a:t>
            </a:fld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1725561" y="145671"/>
            <a:ext cx="8620706" cy="535368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b="1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Objectives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9"/>
          <p:cNvSpPr txBox="1">
            <a:spLocks noGrp="1"/>
          </p:cNvSpPr>
          <p:nvPr>
            <p:ph type="body" idx="1"/>
          </p:nvPr>
        </p:nvSpPr>
        <p:spPr>
          <a:xfrm>
            <a:off x="174825" y="730750"/>
            <a:ext cx="11842500" cy="61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25000" lnSpcReduction="20000"/>
          </a:bodyPr>
          <a:lstStyle/>
          <a:p>
            <a:pPr marL="2286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11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</a:t>
            </a:r>
            <a:endParaRPr sz="11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1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1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IN" sz="5908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Studied:</a:t>
            </a:r>
            <a:br>
              <a:rPr lang="en-IN" sz="5908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5908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2393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IN" sz="5908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Academic papers on soil sensor systems.</a:t>
            </a:r>
            <a:br>
              <a:rPr lang="en-IN" sz="5908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5908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239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IN" sz="5908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Commercial soil testing kits and smart farming devices.</a:t>
            </a:r>
            <a:br>
              <a:rPr lang="en-IN" sz="5908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5908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IN" sz="5908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Gaps found:</a:t>
            </a:r>
            <a:br>
              <a:rPr lang="en-IN" sz="5908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5908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2393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IN" sz="5908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High cost of existing smart farming kits.</a:t>
            </a:r>
            <a:br>
              <a:rPr lang="en-IN" sz="5908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5908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239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IN" sz="5908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Lack of </a:t>
            </a:r>
            <a:r>
              <a:rPr lang="en-IN" sz="5908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region-specific calibration</a:t>
            </a:r>
            <a:r>
              <a:rPr lang="en-IN" sz="5908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(e.g., Karnataka soil types).</a:t>
            </a:r>
            <a:br>
              <a:rPr lang="en-IN" sz="5908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5908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239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IN" sz="5908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Complicated interfaces not suitable for field use.</a:t>
            </a:r>
            <a:br>
              <a:rPr lang="en-IN" sz="5908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5908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IN" sz="5908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Our system is:</a:t>
            </a:r>
            <a:br>
              <a:rPr lang="en-IN" sz="5908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5908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2393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IN" sz="5908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Affordable</a:t>
            </a:r>
            <a:br>
              <a:rPr lang="en-IN" sz="5908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5908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22393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IN" sz="5908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Locally adapted</a:t>
            </a:r>
            <a:br>
              <a:rPr lang="en-IN" sz="5908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5908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indent="0">
              <a:spcBef>
                <a:spcPts val="1200"/>
              </a:spcBef>
              <a:buNone/>
            </a:pPr>
            <a:r>
              <a:rPr lang="en-IN" sz="4800" b="1" dirty="0"/>
              <a:t>Wednesday, 02 July 2025</a:t>
            </a:r>
          </a:p>
          <a:p>
            <a:pPr marL="22860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7608" dirty="0"/>
          </a:p>
        </p:txBody>
      </p:sp>
      <p:sp>
        <p:nvSpPr>
          <p:cNvPr id="187" name="Google Shape;187;p19"/>
          <p:cNvSpPr txBox="1">
            <a:spLocks noGrp="1"/>
          </p:cNvSpPr>
          <p:nvPr>
            <p:ph type="sldNum" idx="12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Slide No. </a:t>
            </a:r>
            <a:fld id="{00000000-1234-1234-1234-123412341234}" type="slidenum">
              <a:rPr lang="en-IN"/>
              <a:t>7</a:t>
            </a:fld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1386895" y="145670"/>
            <a:ext cx="9834426" cy="839401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b="1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Literature Review</a:t>
            </a:r>
            <a:endParaRPr sz="4000" b="1">
              <a:solidFill>
                <a:srgbClr val="C0000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0"/>
          <p:cNvSpPr txBox="1">
            <a:spLocks noGrp="1"/>
          </p:cNvSpPr>
          <p:nvPr>
            <p:ph type="body" idx="1"/>
          </p:nvPr>
        </p:nvSpPr>
        <p:spPr>
          <a:xfrm>
            <a:off x="174825" y="985075"/>
            <a:ext cx="11842500" cy="57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IN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Methodology</a:t>
            </a:r>
            <a:endParaRPr sz="18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IN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Selected key components: </a:t>
            </a:r>
            <a:r>
              <a:rPr lang="en-IN" sz="16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moisture sensor</a:t>
            </a:r>
            <a:r>
              <a:rPr lang="en-IN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IN" sz="16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 sensor</a:t>
            </a:r>
            <a:r>
              <a:rPr lang="en-IN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IN" sz="16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ESP32 microcontroller</a:t>
            </a:r>
            <a:r>
              <a:rPr lang="en-IN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IN" sz="16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LCD display</a:t>
            </a:r>
            <a:r>
              <a:rPr lang="en-IN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lang="en-IN" sz="16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motor</a:t>
            </a:r>
            <a:r>
              <a:rPr lang="en-IN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-IN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IN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Assembled the circuit on a </a:t>
            </a:r>
            <a:r>
              <a:rPr lang="en-IN" sz="16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breadboard</a:t>
            </a:r>
            <a:r>
              <a:rPr lang="en-IN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easy testing and modification.</a:t>
            </a:r>
            <a:br>
              <a:rPr lang="en-IN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IN" sz="16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Connected sensors</a:t>
            </a:r>
            <a:r>
              <a:rPr lang="en-IN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ESP32 to measure real-time soil data (moisture and pH).</a:t>
            </a:r>
            <a:br>
              <a:rPr lang="en-IN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IN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Programmed the system using </a:t>
            </a:r>
            <a:r>
              <a:rPr lang="en-IN" sz="16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Arduino IDE</a:t>
            </a:r>
            <a:r>
              <a:rPr lang="en-IN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to:</a:t>
            </a:r>
            <a:br>
              <a:rPr lang="en-IN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IN" sz="1600" dirty="0">
                <a:latin typeface="Arial"/>
                <a:ea typeface="Arial"/>
                <a:cs typeface="Arial"/>
                <a:sym typeface="Arial"/>
              </a:rPr>
              <a:t>Read sensor values</a:t>
            </a:r>
            <a:br>
              <a:rPr lang="en-IN" sz="1600" dirty="0">
                <a:latin typeface="Arial"/>
                <a:ea typeface="Arial"/>
                <a:cs typeface="Arial"/>
                <a:sym typeface="Arial"/>
              </a:rPr>
            </a:br>
            <a:endParaRPr sz="1600" dirty="0">
              <a:latin typeface="Arial"/>
              <a:ea typeface="Arial"/>
              <a:cs typeface="Arial"/>
              <a:sym typeface="Arial"/>
            </a:endParaRPr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IN" sz="1600" dirty="0">
                <a:latin typeface="Arial"/>
                <a:ea typeface="Arial"/>
                <a:cs typeface="Arial"/>
                <a:sym typeface="Arial"/>
              </a:rPr>
              <a:t>Display results on LCD</a:t>
            </a:r>
            <a:br>
              <a:rPr lang="en-IN" sz="1600" dirty="0">
                <a:latin typeface="Arial"/>
                <a:ea typeface="Arial"/>
                <a:cs typeface="Arial"/>
                <a:sym typeface="Arial"/>
              </a:rPr>
            </a:br>
            <a:endParaRPr sz="1600" dirty="0">
              <a:latin typeface="Arial"/>
              <a:ea typeface="Arial"/>
              <a:cs typeface="Arial"/>
              <a:sym typeface="Arial"/>
            </a:endParaRPr>
          </a:p>
          <a:p>
            <a:pPr marL="914400" lvl="1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IN" sz="1600" dirty="0">
                <a:latin typeface="Arial"/>
                <a:ea typeface="Arial"/>
                <a:cs typeface="Arial"/>
                <a:sym typeface="Arial"/>
              </a:rPr>
              <a:t>Automatically activate the motor when moisture is too low</a:t>
            </a:r>
            <a:br>
              <a:rPr lang="en-IN" sz="1600" dirty="0">
                <a:latin typeface="Arial"/>
                <a:ea typeface="Arial"/>
                <a:cs typeface="Arial"/>
                <a:sym typeface="Arial"/>
              </a:rPr>
            </a:br>
            <a:endParaRPr sz="16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IN" sz="16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Tested the system in a lab</a:t>
            </a:r>
            <a:r>
              <a:rPr lang="en-IN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environment to ensure proper functionality and accuracy.</a:t>
            </a:r>
            <a:br>
              <a:rPr lang="en-IN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6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4" name="Google Shape;194;p20"/>
          <p:cNvSpPr txBox="1">
            <a:spLocks noGrp="1"/>
          </p:cNvSpPr>
          <p:nvPr>
            <p:ph type="dt" idx="10"/>
          </p:nvPr>
        </p:nvSpPr>
        <p:spPr>
          <a:xfrm>
            <a:off x="174812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IN" dirty="0"/>
              <a:t>Wednesday, 02 July 2025</a:t>
            </a:r>
          </a:p>
        </p:txBody>
      </p:sp>
      <p:sp>
        <p:nvSpPr>
          <p:cNvPr id="195" name="Google Shape;195;p20"/>
          <p:cNvSpPr txBox="1">
            <a:spLocks noGrp="1"/>
          </p:cNvSpPr>
          <p:nvPr>
            <p:ph type="sldNum" idx="12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Slide No. </a:t>
            </a:r>
            <a:fld id="{00000000-1234-1234-1234-123412341234}" type="slidenum">
              <a:rPr lang="en-IN"/>
              <a:t>8</a:t>
            </a:fld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1386895" y="145670"/>
            <a:ext cx="9834426" cy="839401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b="1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Methodology</a:t>
            </a:r>
            <a:endParaRPr sz="4000" b="1">
              <a:solidFill>
                <a:srgbClr val="C0000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1"/>
          <p:cNvSpPr txBox="1">
            <a:spLocks noGrp="1"/>
          </p:cNvSpPr>
          <p:nvPr>
            <p:ph type="body" idx="1"/>
          </p:nvPr>
        </p:nvSpPr>
        <p:spPr>
          <a:xfrm>
            <a:off x="174813" y="1258282"/>
            <a:ext cx="11842500" cy="4918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/>
            <a:r>
              <a:rPr lang="en-IN" sz="1600" b="1" dirty="0">
                <a:solidFill>
                  <a:schemeClr val="dk1"/>
                </a:solidFill>
                <a:latin typeface="Arial"/>
                <a:cs typeface="Arial"/>
              </a:rPr>
              <a:t>Input block</a:t>
            </a:r>
            <a:r>
              <a:rPr lang="en-IN" sz="1600" dirty="0">
                <a:solidFill>
                  <a:schemeClr val="dk1"/>
                </a:solidFill>
                <a:latin typeface="Arial"/>
                <a:cs typeface="Arial"/>
              </a:rPr>
              <a:t>: sensors (moisture, pH)</a:t>
            </a:r>
          </a:p>
          <a:p>
            <a:pPr lvl="0"/>
            <a:r>
              <a:rPr lang="en-IN" sz="1600" b="1" dirty="0">
                <a:solidFill>
                  <a:schemeClr val="dk1"/>
                </a:solidFill>
                <a:latin typeface="Arial"/>
                <a:cs typeface="Arial"/>
              </a:rPr>
              <a:t>Processing block</a:t>
            </a:r>
            <a:r>
              <a:rPr lang="en-IN" sz="1600" dirty="0">
                <a:solidFill>
                  <a:schemeClr val="dk1"/>
                </a:solidFill>
                <a:latin typeface="Arial"/>
                <a:cs typeface="Arial"/>
              </a:rPr>
              <a:t>: ESP32</a:t>
            </a:r>
          </a:p>
          <a:p>
            <a:pPr lvl="0"/>
            <a:r>
              <a:rPr lang="en-IN" sz="1600" b="1" dirty="0">
                <a:solidFill>
                  <a:schemeClr val="dk1"/>
                </a:solidFill>
                <a:latin typeface="Arial"/>
                <a:cs typeface="Arial"/>
              </a:rPr>
              <a:t>Output block</a:t>
            </a:r>
            <a:r>
              <a:rPr lang="en-IN" sz="1600" dirty="0">
                <a:solidFill>
                  <a:schemeClr val="dk1"/>
                </a:solidFill>
                <a:latin typeface="Arial"/>
                <a:cs typeface="Arial"/>
              </a:rPr>
              <a:t>: relay, buzzer, LEDs, LCD</a:t>
            </a:r>
          </a:p>
          <a:p>
            <a:pPr lvl="0"/>
            <a:r>
              <a:rPr lang="en-IN" sz="1600" b="1" dirty="0">
                <a:solidFill>
                  <a:schemeClr val="dk1"/>
                </a:solidFill>
                <a:latin typeface="Arial"/>
                <a:cs typeface="Arial"/>
              </a:rPr>
              <a:t>Power block</a:t>
            </a:r>
            <a:r>
              <a:rPr lang="en-IN" sz="1600" dirty="0">
                <a:solidFill>
                  <a:schemeClr val="dk1"/>
                </a:solidFill>
                <a:latin typeface="Arial"/>
                <a:cs typeface="Arial"/>
              </a:rPr>
              <a:t>: battery, charging &amp; boosting circuit</a:t>
            </a: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03" name="Google Shape;203;p21"/>
          <p:cNvSpPr txBox="1">
            <a:spLocks noGrp="1"/>
          </p:cNvSpPr>
          <p:nvPr>
            <p:ph type="sldNum" idx="12"/>
          </p:nvPr>
        </p:nvSpPr>
        <p:spPr>
          <a:xfrm>
            <a:off x="9273988" y="6347205"/>
            <a:ext cx="2743200" cy="365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IN"/>
              <a:t>9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46A3608-DB40-43BA-0188-C1FAC21BD0D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2514" y="2852477"/>
            <a:ext cx="7076073" cy="3324605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2357EF1-BD41-0C5B-F7F6-6A058A1E8487}"/>
              </a:ext>
            </a:extLst>
          </p:cNvPr>
          <p:cNvSpPr txBox="1"/>
          <p:nvPr/>
        </p:nvSpPr>
        <p:spPr>
          <a:xfrm>
            <a:off x="174812" y="6347205"/>
            <a:ext cx="257460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IN" sz="1200" b="1" dirty="0">
                <a:solidFill>
                  <a:srgbClr val="002060"/>
                </a:solidFill>
                <a:latin typeface="Bookman Old Style"/>
                <a:sym typeface="Bookman Old Style"/>
              </a:rPr>
              <a:t>Wednesday, 02 July 2025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2"/>
          <p:cNvSpPr txBox="1">
            <a:spLocks noGrp="1"/>
          </p:cNvSpPr>
          <p:nvPr>
            <p:ph type="body" idx="1"/>
          </p:nvPr>
        </p:nvSpPr>
        <p:spPr>
          <a:xfrm>
            <a:off x="174825" y="985075"/>
            <a:ext cx="11842500" cy="57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1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Design &amp; Implementation</a:t>
            </a:r>
            <a:endParaRPr sz="21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IN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Modular breadboard design for flexibility and debugging.</a:t>
            </a:r>
            <a:br>
              <a:rPr lang="en-IN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IN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Compact hardware assembly.</a:t>
            </a:r>
            <a:br>
              <a:rPr lang="en-IN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IN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Emphasis on </a:t>
            </a:r>
            <a:r>
              <a:rPr lang="en-IN" sz="19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field-readiness</a:t>
            </a:r>
            <a:r>
              <a:rPr lang="en-IN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power backup, LCD readability, waterproofing (in future version).</a:t>
            </a:r>
            <a:br>
              <a:rPr lang="en-IN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IN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Used </a:t>
            </a:r>
            <a:r>
              <a:rPr lang="en-IN" sz="19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I2C LCD</a:t>
            </a:r>
            <a:r>
              <a:rPr lang="en-IN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clean wiring and better power efficiency.</a:t>
            </a:r>
            <a:br>
              <a:rPr lang="en-IN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IN" sz="19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Relay circuit</a:t>
            </a:r>
            <a:r>
              <a:rPr lang="en-IN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used for triggering motor pump (for irrigation control).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3600"/>
          </a:p>
        </p:txBody>
      </p:sp>
      <p:sp>
        <p:nvSpPr>
          <p:cNvPr id="209" name="Google Shape;209;p22"/>
          <p:cNvSpPr txBox="1">
            <a:spLocks noGrp="1"/>
          </p:cNvSpPr>
          <p:nvPr>
            <p:ph type="dt" idx="10"/>
          </p:nvPr>
        </p:nvSpPr>
        <p:spPr>
          <a:xfrm>
            <a:off x="174812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IN" dirty="0"/>
              <a:t>Wednesday, 02 July 2025</a:t>
            </a:r>
          </a:p>
        </p:txBody>
      </p:sp>
      <p:sp>
        <p:nvSpPr>
          <p:cNvPr id="210" name="Google Shape;210;p22"/>
          <p:cNvSpPr txBox="1">
            <a:spLocks noGrp="1"/>
          </p:cNvSpPr>
          <p:nvPr>
            <p:ph type="sldNum" idx="12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Slide No. </a:t>
            </a:r>
            <a:fld id="{00000000-1234-1234-1234-123412341234}" type="slidenum">
              <a:rPr lang="en-IN"/>
              <a:t>10</a:t>
            </a:fld>
            <a:endParaRPr/>
          </a:p>
        </p:txBody>
      </p:sp>
      <p:sp>
        <p:nvSpPr>
          <p:cNvPr id="211" name="Google Shape;211;p22"/>
          <p:cNvSpPr txBox="1"/>
          <p:nvPr/>
        </p:nvSpPr>
        <p:spPr>
          <a:xfrm>
            <a:off x="1386895" y="145670"/>
            <a:ext cx="9834426" cy="839401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b="1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Design and Implementation</a:t>
            </a:r>
            <a:endParaRPr sz="4000" b="1">
              <a:solidFill>
                <a:srgbClr val="C0000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 txBox="1">
            <a:spLocks noGrp="1"/>
          </p:cNvSpPr>
          <p:nvPr>
            <p:ph type="body" idx="1"/>
          </p:nvPr>
        </p:nvSpPr>
        <p:spPr>
          <a:xfrm>
            <a:off x="0" y="1070100"/>
            <a:ext cx="12192000" cy="57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6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Components &amp; Tools Used</a:t>
            </a:r>
            <a:endParaRPr sz="16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IN" sz="1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Microcontroller</a:t>
            </a:r>
            <a:r>
              <a:rPr lang="en-IN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ESP32 (Wi-Fi capable for future IoT use)</a:t>
            </a:r>
            <a:br>
              <a:rPr lang="en-IN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IN" sz="1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Sensors</a:t>
            </a:r>
            <a:r>
              <a:rPr lang="en-IN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en-IN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IN" sz="1400" dirty="0">
                <a:latin typeface="Arial"/>
                <a:ea typeface="Arial"/>
                <a:cs typeface="Arial"/>
                <a:sym typeface="Arial"/>
              </a:rPr>
              <a:t>Capacitive Soil Moisture Sensor</a:t>
            </a:r>
            <a:br>
              <a:rPr lang="en-IN" sz="1400" dirty="0">
                <a:latin typeface="Arial"/>
                <a:ea typeface="Arial"/>
                <a:cs typeface="Arial"/>
                <a:sym typeface="Arial"/>
              </a:rPr>
            </a:br>
            <a:endParaRPr sz="1400" dirty="0">
              <a:latin typeface="Arial"/>
              <a:ea typeface="Arial"/>
              <a:cs typeface="Arial"/>
              <a:sym typeface="Arial"/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IN" sz="1400" dirty="0">
                <a:latin typeface="Arial"/>
                <a:ea typeface="Arial"/>
                <a:cs typeface="Arial"/>
                <a:sym typeface="Arial"/>
              </a:rPr>
              <a:t>Analog Soil pH Sensor</a:t>
            </a:r>
            <a:br>
              <a:rPr lang="en-IN" sz="1400" dirty="0">
                <a:latin typeface="Arial"/>
                <a:ea typeface="Arial"/>
                <a:cs typeface="Arial"/>
                <a:sym typeface="Arial"/>
              </a:rPr>
            </a:br>
            <a:endParaRPr sz="1400" dirty="0">
              <a:latin typeface="Arial"/>
              <a:ea typeface="Arial"/>
              <a:cs typeface="Arial"/>
              <a:sym typeface="Arial"/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IN" sz="1400" dirty="0">
                <a:latin typeface="Arial"/>
                <a:ea typeface="Arial"/>
                <a:cs typeface="Arial"/>
                <a:sym typeface="Arial"/>
              </a:rPr>
              <a:t>Temperature Sensor (optional)</a:t>
            </a:r>
            <a:br>
              <a:rPr lang="en-IN" sz="1400" dirty="0">
                <a:latin typeface="Arial"/>
                <a:ea typeface="Arial"/>
                <a:cs typeface="Arial"/>
                <a:sym typeface="Arial"/>
              </a:rPr>
            </a:br>
            <a:endParaRPr sz="14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IN" sz="1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Display</a:t>
            </a:r>
            <a:r>
              <a:rPr lang="en-IN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16x2 I2C LCD</a:t>
            </a:r>
            <a:br>
              <a:rPr lang="en-IN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IN" sz="1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Power</a:t>
            </a:r>
            <a:r>
              <a:rPr lang="en-IN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Rechargeable battery pack (for portability)</a:t>
            </a:r>
            <a:br>
              <a:rPr lang="en-IN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IN" sz="1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Actuator</a:t>
            </a:r>
            <a:r>
              <a:rPr lang="en-IN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Relay + Water Motor</a:t>
            </a:r>
            <a:br>
              <a:rPr lang="en-IN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IN" sz="1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Software Tools</a:t>
            </a:r>
            <a:r>
              <a:rPr lang="en-IN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en-IN" sz="1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-IN" sz="1400" dirty="0">
                <a:latin typeface="Arial"/>
                <a:ea typeface="Arial"/>
                <a:cs typeface="Arial"/>
                <a:sym typeface="Arial"/>
              </a:rPr>
              <a:t>Arduino IDE</a:t>
            </a:r>
            <a:br>
              <a:rPr lang="en-IN" sz="1400" dirty="0">
                <a:latin typeface="Arial"/>
                <a:ea typeface="Arial"/>
                <a:cs typeface="Arial"/>
                <a:sym typeface="Arial"/>
              </a:rPr>
            </a:br>
            <a:endParaRPr sz="1400" dirty="0">
              <a:latin typeface="Arial"/>
              <a:ea typeface="Arial"/>
              <a:cs typeface="Arial"/>
              <a:sym typeface="Arial"/>
            </a:endParaRPr>
          </a:p>
          <a:p>
            <a:pPr marL="22860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3100" dirty="0"/>
          </a:p>
        </p:txBody>
      </p:sp>
      <p:sp>
        <p:nvSpPr>
          <p:cNvPr id="217" name="Google Shape;217;p23"/>
          <p:cNvSpPr txBox="1">
            <a:spLocks noGrp="1"/>
          </p:cNvSpPr>
          <p:nvPr>
            <p:ph type="dt" idx="10"/>
          </p:nvPr>
        </p:nvSpPr>
        <p:spPr>
          <a:xfrm>
            <a:off x="358140" y="649290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r>
              <a:rPr lang="en-IN" dirty="0"/>
              <a:t>Wednesday, 02 July 2025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18" name="Google Shape;218;p23"/>
          <p:cNvSpPr txBox="1">
            <a:spLocks noGrp="1"/>
          </p:cNvSpPr>
          <p:nvPr>
            <p:ph type="sldNum" idx="12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Slide No. </a:t>
            </a:r>
            <a:fld id="{00000000-1234-1234-1234-123412341234}" type="slidenum">
              <a:rPr lang="en-IN"/>
              <a:t>11</a:t>
            </a:fld>
            <a:endParaRPr/>
          </a:p>
        </p:txBody>
      </p:sp>
      <p:sp>
        <p:nvSpPr>
          <p:cNvPr id="219" name="Google Shape;219;p23"/>
          <p:cNvSpPr txBox="1"/>
          <p:nvPr/>
        </p:nvSpPr>
        <p:spPr>
          <a:xfrm>
            <a:off x="1386895" y="145670"/>
            <a:ext cx="9834426" cy="839401"/>
          </a:xfrm>
          <a:prstGeom prst="rect">
            <a:avLst/>
          </a:prstGeom>
          <a:noFill/>
          <a:ln w="9525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b="1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Components and Tools Used</a:t>
            </a:r>
            <a:endParaRPr sz="4000" b="1">
              <a:solidFill>
                <a:srgbClr val="C0000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  <p:pic>
        <p:nvPicPr>
          <p:cNvPr id="220" name="Google Shape;22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6000" y="1209200"/>
            <a:ext cx="2334324" cy="17833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92225" y="1259950"/>
            <a:ext cx="2424876" cy="168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96000" y="3429000"/>
            <a:ext cx="2334324" cy="1962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760163" y="3569513"/>
            <a:ext cx="2889002" cy="1681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4"/>
          <p:cNvSpPr txBox="1">
            <a:spLocks noGrp="1"/>
          </p:cNvSpPr>
          <p:nvPr>
            <p:ph type="body" idx="1"/>
          </p:nvPr>
        </p:nvSpPr>
        <p:spPr>
          <a:xfrm>
            <a:off x="174800" y="1151225"/>
            <a:ext cx="12192000" cy="57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7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Real-time monitoring</a:t>
            </a:r>
            <a:r>
              <a:rPr lang="en-IN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works effectively:</a:t>
            </a:r>
            <a:br>
              <a:rPr lang="en-IN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IN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Moisture values vary clearly between dry and wet soil.</a:t>
            </a:r>
            <a:br>
              <a:rPr lang="en-IN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IN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 sensor reliably distinguishes acidic and neutral soil.</a:t>
            </a:r>
            <a:br>
              <a:rPr lang="en-IN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LCD display is clear and readable in daylight.</a:t>
            </a:r>
            <a:br>
              <a:rPr lang="en-IN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7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Motor control logic</a:t>
            </a:r>
            <a:r>
              <a:rPr lang="en-IN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works:</a:t>
            </a:r>
            <a:br>
              <a:rPr lang="en-IN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IN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 activation when moisture drops.</a:t>
            </a:r>
            <a:br>
              <a:rPr lang="en-IN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7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Power setup is stable</a:t>
            </a:r>
            <a:r>
              <a:rPr lang="en-IN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outdoor use.</a:t>
            </a:r>
            <a:br>
              <a:rPr lang="en-IN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Sensors calibrated for soil types found in Karnataka villages.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3400"/>
          </a:p>
        </p:txBody>
      </p:sp>
      <p:sp>
        <p:nvSpPr>
          <p:cNvPr id="230" name="Google Shape;230;p24"/>
          <p:cNvSpPr txBox="1">
            <a:spLocks noGrp="1"/>
          </p:cNvSpPr>
          <p:nvPr>
            <p:ph type="dt" idx="10"/>
          </p:nvPr>
        </p:nvSpPr>
        <p:spPr>
          <a:xfrm>
            <a:off x="174812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IN" dirty="0"/>
              <a:t>Wednesday, 02 July 2025</a:t>
            </a:r>
          </a:p>
        </p:txBody>
      </p:sp>
      <p:sp>
        <p:nvSpPr>
          <p:cNvPr id="231" name="Google Shape;231;p24"/>
          <p:cNvSpPr txBox="1">
            <a:spLocks noGrp="1"/>
          </p:cNvSpPr>
          <p:nvPr>
            <p:ph type="sldNum" idx="12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12</a:t>
            </a:fld>
            <a:endParaRPr/>
          </a:p>
        </p:txBody>
      </p:sp>
      <p:sp>
        <p:nvSpPr>
          <p:cNvPr id="232" name="Google Shape;232;p24"/>
          <p:cNvSpPr txBox="1"/>
          <p:nvPr/>
        </p:nvSpPr>
        <p:spPr>
          <a:xfrm>
            <a:off x="2284362" y="145670"/>
            <a:ext cx="8146571" cy="839401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b="1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Results/Simulation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5"/>
          <p:cNvSpPr txBox="1">
            <a:spLocks noGrp="1"/>
          </p:cNvSpPr>
          <p:nvPr>
            <p:ph type="body" idx="1"/>
          </p:nvPr>
        </p:nvSpPr>
        <p:spPr>
          <a:xfrm>
            <a:off x="174800" y="1117600"/>
            <a:ext cx="11842500" cy="574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5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Challenges Faced (Concise)</a:t>
            </a:r>
            <a:endParaRPr sz="15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IN" sz="13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 Sensor Issues</a:t>
            </a:r>
            <a:br>
              <a:rPr lang="en-IN" sz="13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3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-IN" sz="1300" dirty="0">
                <a:latin typeface="Arial"/>
                <a:ea typeface="Arial"/>
                <a:cs typeface="Arial"/>
                <a:sym typeface="Arial"/>
              </a:rPr>
              <a:t>Faced inaccurate and unstable readings.</a:t>
            </a:r>
            <a:br>
              <a:rPr lang="en-IN" sz="1300" dirty="0">
                <a:latin typeface="Arial"/>
                <a:ea typeface="Arial"/>
                <a:cs typeface="Arial"/>
                <a:sym typeface="Arial"/>
              </a:rPr>
            </a:br>
            <a:endParaRPr sz="1300" dirty="0">
              <a:latin typeface="Arial"/>
              <a:ea typeface="Arial"/>
              <a:cs typeface="Arial"/>
              <a:sym typeface="Arial"/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-IN" sz="1300" dirty="0">
                <a:latin typeface="Arial"/>
                <a:ea typeface="Arial"/>
                <a:cs typeface="Arial"/>
                <a:sym typeface="Arial"/>
              </a:rPr>
              <a:t>Resolved by testing multiple sensor models and calibrating with buffer solutions and pH strips.</a:t>
            </a:r>
            <a:br>
              <a:rPr lang="en-IN" sz="1300" dirty="0">
                <a:latin typeface="Arial"/>
                <a:ea typeface="Arial"/>
                <a:cs typeface="Arial"/>
                <a:sym typeface="Arial"/>
              </a:rPr>
            </a:br>
            <a:endParaRPr sz="13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IN" sz="13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Circuit Noise</a:t>
            </a:r>
            <a:br>
              <a:rPr lang="en-IN" sz="13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3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-IN" sz="1300" dirty="0">
                <a:latin typeface="Arial"/>
                <a:ea typeface="Arial"/>
                <a:cs typeface="Arial"/>
                <a:sym typeface="Arial"/>
              </a:rPr>
              <a:t>Sensor data fluctuated due to interference.</a:t>
            </a:r>
            <a:br>
              <a:rPr lang="en-IN" sz="1300" dirty="0">
                <a:latin typeface="Arial"/>
                <a:ea typeface="Arial"/>
                <a:cs typeface="Arial"/>
                <a:sym typeface="Arial"/>
              </a:rPr>
            </a:br>
            <a:endParaRPr sz="1300" dirty="0">
              <a:latin typeface="Arial"/>
              <a:ea typeface="Arial"/>
              <a:cs typeface="Arial"/>
              <a:sym typeface="Arial"/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-IN" sz="1300" dirty="0">
                <a:latin typeface="Arial"/>
                <a:ea typeface="Arial"/>
                <a:cs typeface="Arial"/>
                <a:sym typeface="Arial"/>
              </a:rPr>
              <a:t>Fixed using pull-down resistors and signal filtering.</a:t>
            </a:r>
            <a:br>
              <a:rPr lang="en-IN" sz="1300" dirty="0">
                <a:latin typeface="Arial"/>
                <a:ea typeface="Arial"/>
                <a:cs typeface="Arial"/>
                <a:sym typeface="Arial"/>
              </a:rPr>
            </a:br>
            <a:endParaRPr sz="1300" dirty="0">
              <a:latin typeface="Arial"/>
              <a:ea typeface="Arial"/>
              <a:cs typeface="Arial"/>
              <a:sym typeface="Arial"/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IN" sz="13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Power Instability</a:t>
            </a:r>
            <a:br>
              <a:rPr lang="en-IN" sz="13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3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-IN" sz="1300" dirty="0">
                <a:latin typeface="Arial"/>
                <a:ea typeface="Arial"/>
                <a:cs typeface="Arial"/>
                <a:sym typeface="Arial"/>
              </a:rPr>
              <a:t>Voltage drops affected sensor performance.</a:t>
            </a:r>
            <a:br>
              <a:rPr lang="en-IN" sz="1300" dirty="0">
                <a:latin typeface="Arial"/>
                <a:ea typeface="Arial"/>
                <a:cs typeface="Arial"/>
                <a:sym typeface="Arial"/>
              </a:rPr>
            </a:br>
            <a:endParaRPr sz="1300" dirty="0">
              <a:latin typeface="Arial"/>
              <a:ea typeface="Arial"/>
              <a:cs typeface="Arial"/>
              <a:sym typeface="Arial"/>
            </a:endParaRPr>
          </a:p>
          <a:p>
            <a:pPr marL="914400" lvl="1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-IN" sz="1300" dirty="0">
                <a:latin typeface="Arial"/>
                <a:ea typeface="Arial"/>
                <a:cs typeface="Arial"/>
                <a:sym typeface="Arial"/>
              </a:rPr>
              <a:t>Solved by adding a voltage regulator for stable power.</a:t>
            </a:r>
            <a:br>
              <a:rPr lang="en-IN" sz="1300" dirty="0">
                <a:latin typeface="Arial"/>
                <a:ea typeface="Arial"/>
                <a:cs typeface="Arial"/>
                <a:sym typeface="Arial"/>
              </a:rPr>
            </a:br>
            <a:br>
              <a:rPr lang="en-IN" sz="1300" dirty="0">
                <a:latin typeface="Arial"/>
                <a:ea typeface="Arial"/>
                <a:cs typeface="Arial"/>
                <a:sym typeface="Arial"/>
              </a:rPr>
            </a:br>
            <a:endParaRPr sz="1300" dirty="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5"/>
          <p:cNvSpPr txBox="1">
            <a:spLocks noGrp="1"/>
          </p:cNvSpPr>
          <p:nvPr>
            <p:ph type="dt" idx="10"/>
          </p:nvPr>
        </p:nvSpPr>
        <p:spPr>
          <a:xfrm>
            <a:off x="369122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IN" dirty="0"/>
              <a:t>Wednesday, 02 July 2025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0" name="Google Shape;240;p25"/>
          <p:cNvSpPr txBox="1">
            <a:spLocks noGrp="1"/>
          </p:cNvSpPr>
          <p:nvPr>
            <p:ph type="sldNum" idx="12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13</a:t>
            </a:fld>
            <a:endParaRPr/>
          </a:p>
        </p:txBody>
      </p:sp>
      <p:sp>
        <p:nvSpPr>
          <p:cNvPr id="241" name="Google Shape;241;p25"/>
          <p:cNvSpPr txBox="1"/>
          <p:nvPr/>
        </p:nvSpPr>
        <p:spPr>
          <a:xfrm>
            <a:off x="2284362" y="145670"/>
            <a:ext cx="8146571" cy="839401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b="1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Challenges Faced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6"/>
          <p:cNvSpPr txBox="1">
            <a:spLocks noGrp="1"/>
          </p:cNvSpPr>
          <p:nvPr>
            <p:ph type="body" idx="1"/>
          </p:nvPr>
        </p:nvSpPr>
        <p:spPr>
          <a:xfrm>
            <a:off x="174800" y="803250"/>
            <a:ext cx="11842500" cy="55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ct val="84615"/>
              <a:buFont typeface="Arial"/>
              <a:buNone/>
            </a:pPr>
            <a:endParaRPr sz="13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5041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IN" sz="216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Successfully </a:t>
            </a:r>
            <a:r>
              <a:rPr lang="en-IN" sz="2162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developed a working prototype</a:t>
            </a:r>
            <a:r>
              <a:rPr lang="en-IN" sz="216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real-time soil monitoring.</a:t>
            </a:r>
            <a:br>
              <a:rPr lang="en-IN" sz="216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2162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504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IN" sz="216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system is capable of </a:t>
            </a:r>
            <a:r>
              <a:rPr lang="en-IN" sz="2162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measuring and displaying</a:t>
            </a:r>
            <a:r>
              <a:rPr lang="en-IN" sz="216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soil moistur , soil pH, and temperature(optional)</a:t>
            </a:r>
            <a:br>
              <a:rPr lang="en-IN" sz="216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2162">
              <a:latin typeface="Arial"/>
              <a:ea typeface="Arial"/>
              <a:cs typeface="Arial"/>
              <a:sym typeface="Arial"/>
            </a:endParaRPr>
          </a:p>
          <a:p>
            <a:pPr marL="457200" lvl="0" indent="-33504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IN" sz="2162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Real-time readings</a:t>
            </a:r>
            <a:r>
              <a:rPr lang="en-IN" sz="216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are clearly shown on an </a:t>
            </a:r>
            <a:r>
              <a:rPr lang="en-IN" sz="2162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LCD display</a:t>
            </a:r>
            <a:r>
              <a:rPr lang="en-IN" sz="216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using I2C communication, making it easy to read even outdoors.</a:t>
            </a:r>
            <a:br>
              <a:rPr lang="en-IN" sz="216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2162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504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IN" sz="216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system is programmed to </a:t>
            </a:r>
            <a:r>
              <a:rPr lang="en-IN" sz="2162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automatically activate a water motor</a:t>
            </a:r>
            <a:r>
              <a:rPr lang="en-IN" sz="216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when soil moisture falls below a set threshold, supporting </a:t>
            </a:r>
            <a:r>
              <a:rPr lang="en-IN" sz="2162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smart irrigation</a:t>
            </a:r>
            <a:r>
              <a:rPr lang="en-IN" sz="216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-IN" sz="216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2162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504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IN" sz="216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Designed to be </a:t>
            </a:r>
            <a:r>
              <a:rPr lang="en-IN" sz="2162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portable</a:t>
            </a:r>
            <a:r>
              <a:rPr lang="en-IN" sz="216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powered by a </a:t>
            </a:r>
            <a:r>
              <a:rPr lang="en-IN" sz="2162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rechargeable battery</a:t>
            </a:r>
            <a:r>
              <a:rPr lang="en-IN" sz="216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and suitable for </a:t>
            </a:r>
            <a:r>
              <a:rPr lang="en-IN" sz="2162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in rural and semi-urban fields</a:t>
            </a:r>
            <a:r>
              <a:rPr lang="en-IN" sz="216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-IN" sz="216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2162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504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IN" sz="216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Hardware is mounted and arranged in a </a:t>
            </a:r>
            <a:r>
              <a:rPr lang="en-IN" sz="2162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modular way</a:t>
            </a:r>
            <a:r>
              <a:rPr lang="en-IN" sz="216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allow easy maintenance and future expansion (e.g., NPK sensors, cloud connectivity).</a:t>
            </a:r>
            <a:br>
              <a:rPr lang="en-IN" sz="216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2162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5041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IN" sz="216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 components, including </a:t>
            </a:r>
            <a:r>
              <a:rPr lang="en-IN" sz="2162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ESP32</a:t>
            </a:r>
            <a:r>
              <a:rPr lang="en-IN" sz="216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sensors, LCD, motor, and power system, have been </a:t>
            </a:r>
            <a:r>
              <a:rPr lang="en-IN" sz="2162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fully tested and integrated</a:t>
            </a:r>
            <a:r>
              <a:rPr lang="en-IN" sz="216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-IN" sz="2162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2162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3862"/>
          </a:p>
        </p:txBody>
      </p:sp>
      <p:sp>
        <p:nvSpPr>
          <p:cNvPr id="248" name="Google Shape;248;p26"/>
          <p:cNvSpPr txBox="1">
            <a:spLocks noGrp="1"/>
          </p:cNvSpPr>
          <p:nvPr>
            <p:ph type="dt" idx="10"/>
          </p:nvPr>
        </p:nvSpPr>
        <p:spPr>
          <a:xfrm>
            <a:off x="174812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IN" dirty="0"/>
              <a:t>Wednesday, 02 July 2025</a:t>
            </a:r>
          </a:p>
        </p:txBody>
      </p:sp>
      <p:sp>
        <p:nvSpPr>
          <p:cNvPr id="249" name="Google Shape;249;p26"/>
          <p:cNvSpPr txBox="1">
            <a:spLocks noGrp="1"/>
          </p:cNvSpPr>
          <p:nvPr>
            <p:ph type="sldNum" idx="12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14</a:t>
            </a:fld>
            <a:endParaRPr/>
          </a:p>
        </p:txBody>
      </p:sp>
      <p:sp>
        <p:nvSpPr>
          <p:cNvPr id="250" name="Google Shape;250;p26"/>
          <p:cNvSpPr txBox="1"/>
          <p:nvPr/>
        </p:nvSpPr>
        <p:spPr>
          <a:xfrm>
            <a:off x="2284362" y="145670"/>
            <a:ext cx="8146571" cy="839401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b="1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Final Outcome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7"/>
          <p:cNvSpPr txBox="1">
            <a:spLocks noGrp="1"/>
          </p:cNvSpPr>
          <p:nvPr>
            <p:ph type="body" idx="1"/>
          </p:nvPr>
        </p:nvSpPr>
        <p:spPr>
          <a:xfrm>
            <a:off x="174800" y="803250"/>
            <a:ext cx="11842500" cy="55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endParaRPr sz="13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IN" sz="19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prototype is now </a:t>
            </a:r>
            <a:r>
              <a:rPr lang="en-IN" sz="19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ready for Phase-III testing</a:t>
            </a:r>
            <a:r>
              <a:rPr lang="en-IN" sz="19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which will involve:</a:t>
            </a:r>
            <a:br>
              <a:rPr lang="en-IN" sz="19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9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-IN" sz="1900" b="1" dirty="0">
                <a:latin typeface="Arial"/>
                <a:ea typeface="Arial"/>
                <a:cs typeface="Arial"/>
                <a:sym typeface="Arial"/>
              </a:rPr>
              <a:t>Field deployment</a:t>
            </a:r>
            <a:r>
              <a:rPr lang="en-IN" sz="1900" dirty="0">
                <a:latin typeface="Arial"/>
                <a:ea typeface="Arial"/>
                <a:cs typeface="Arial"/>
                <a:sym typeface="Arial"/>
              </a:rPr>
              <a:t> in real farming conditions.</a:t>
            </a:r>
            <a:br>
              <a:rPr lang="en-IN" sz="1900" dirty="0">
                <a:latin typeface="Arial"/>
                <a:ea typeface="Arial"/>
                <a:cs typeface="Arial"/>
                <a:sym typeface="Arial"/>
              </a:rPr>
            </a:br>
            <a:endParaRPr sz="1900" dirty="0">
              <a:latin typeface="Arial"/>
              <a:ea typeface="Arial"/>
              <a:cs typeface="Arial"/>
              <a:sym typeface="Arial"/>
            </a:endParaRPr>
          </a:p>
          <a:p>
            <a:pPr marL="914400" lvl="1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○"/>
            </a:pPr>
            <a:r>
              <a:rPr lang="en-IN" sz="1900" dirty="0">
                <a:latin typeface="Arial"/>
                <a:ea typeface="Arial"/>
                <a:cs typeface="Arial"/>
                <a:sym typeface="Arial"/>
              </a:rPr>
              <a:t>Collecting data from </a:t>
            </a:r>
            <a:r>
              <a:rPr lang="en-IN" sz="1900" b="1" dirty="0">
                <a:latin typeface="Arial"/>
                <a:ea typeface="Arial"/>
                <a:cs typeface="Arial"/>
                <a:sym typeface="Arial"/>
              </a:rPr>
              <a:t>different soil types</a:t>
            </a:r>
            <a:r>
              <a:rPr lang="en-IN" sz="1900" dirty="0">
                <a:latin typeface="Arial"/>
                <a:ea typeface="Arial"/>
                <a:cs typeface="Arial"/>
                <a:sym typeface="Arial"/>
              </a:rPr>
              <a:t> in rural Karnataka like Bellandur, </a:t>
            </a:r>
            <a:r>
              <a:rPr lang="en-IN" sz="1900" dirty="0" err="1">
                <a:latin typeface="Arial"/>
                <a:ea typeface="Arial"/>
                <a:cs typeface="Arial"/>
                <a:sym typeface="Arial"/>
              </a:rPr>
              <a:t>Peenya</a:t>
            </a:r>
            <a:r>
              <a:rPr lang="en-IN" sz="1900" dirty="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IN" sz="1900" dirty="0" err="1">
                <a:latin typeface="Arial"/>
                <a:ea typeface="Arial"/>
                <a:cs typeface="Arial"/>
                <a:sym typeface="Arial"/>
              </a:rPr>
              <a:t>Devanhalli</a:t>
            </a:r>
            <a:r>
              <a:rPr lang="en-IN" sz="1900" dirty="0">
                <a:latin typeface="Arial"/>
                <a:ea typeface="Arial"/>
                <a:cs typeface="Arial"/>
                <a:sym typeface="Arial"/>
              </a:rPr>
              <a:t> and Lalbagh </a:t>
            </a:r>
            <a:br>
              <a:rPr lang="en-IN" sz="1900" dirty="0">
                <a:latin typeface="Arial"/>
                <a:ea typeface="Arial"/>
                <a:cs typeface="Arial"/>
                <a:sym typeface="Arial"/>
              </a:rPr>
            </a:br>
            <a:endParaRPr sz="1900" dirty="0">
              <a:latin typeface="Arial"/>
              <a:ea typeface="Arial"/>
              <a:cs typeface="Arial"/>
              <a:sym typeface="Arial"/>
            </a:endParaRPr>
          </a:p>
          <a:p>
            <a:pPr marL="22860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162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27"/>
          <p:cNvSpPr txBox="1">
            <a:spLocks noGrp="1"/>
          </p:cNvSpPr>
          <p:nvPr>
            <p:ph type="dt" idx="10"/>
          </p:nvPr>
        </p:nvSpPr>
        <p:spPr>
          <a:xfrm>
            <a:off x="174812" y="634720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IN" dirty="0"/>
              <a:t>Wednesday, 02 July 2025</a:t>
            </a:r>
          </a:p>
        </p:txBody>
      </p:sp>
      <p:sp>
        <p:nvSpPr>
          <p:cNvPr id="258" name="Google Shape;258;p27"/>
          <p:cNvSpPr txBox="1">
            <a:spLocks noGrp="1"/>
          </p:cNvSpPr>
          <p:nvPr>
            <p:ph type="sldNum" idx="12"/>
          </p:nvPr>
        </p:nvSpPr>
        <p:spPr>
          <a:xfrm>
            <a:off x="9273988" y="634720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15</a:t>
            </a:fld>
            <a:endParaRPr/>
          </a:p>
        </p:txBody>
      </p:sp>
      <p:sp>
        <p:nvSpPr>
          <p:cNvPr id="259" name="Google Shape;259;p27"/>
          <p:cNvSpPr txBox="1"/>
          <p:nvPr/>
        </p:nvSpPr>
        <p:spPr>
          <a:xfrm>
            <a:off x="2284362" y="145670"/>
            <a:ext cx="8146500" cy="839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b="1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Final Outcome</a:t>
            </a:r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8163FA7-B7C0-FE27-E1BB-1AE44F7C91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3786" y="3952485"/>
            <a:ext cx="1962424" cy="20296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ABD7782-72EC-9C56-A9F1-57EBEEE35B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0852" y="3952485"/>
            <a:ext cx="1962424" cy="199924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6D58CD0-5653-7608-E554-1637AB12CD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1882" y="3952485"/>
            <a:ext cx="1997558" cy="197584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2D96EE0-6E06-1643-D288-1A5BBEA4CD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8046" y="3952486"/>
            <a:ext cx="1814504" cy="199466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8"/>
          <p:cNvSpPr txBox="1">
            <a:spLocks noGrp="1"/>
          </p:cNvSpPr>
          <p:nvPr>
            <p:ph type="body" idx="1"/>
          </p:nvPr>
        </p:nvSpPr>
        <p:spPr>
          <a:xfrm>
            <a:off x="174811" y="1117600"/>
            <a:ext cx="11842377" cy="5229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3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IN" sz="19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Precision farming</a:t>
            </a:r>
            <a:r>
              <a:rPr lang="en-IN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rural and small-scale farmers.</a:t>
            </a:r>
            <a:br>
              <a:rPr lang="en-IN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IN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Support for </a:t>
            </a:r>
            <a:r>
              <a:rPr lang="en-IN" sz="19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agricultural extension services</a:t>
            </a:r>
            <a:r>
              <a:rPr lang="en-IN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field officers.</a:t>
            </a:r>
            <a:br>
              <a:rPr lang="en-IN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IN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Useful in </a:t>
            </a:r>
            <a:r>
              <a:rPr lang="en-IN" sz="19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soil research</a:t>
            </a:r>
            <a:r>
              <a:rPr lang="en-IN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IN" sz="19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educational demonstrations</a:t>
            </a:r>
            <a:r>
              <a:rPr lang="en-IN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-IN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IN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 be integrated with </a:t>
            </a:r>
            <a:r>
              <a:rPr lang="en-IN" sz="19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government smart farming programs</a:t>
            </a:r>
            <a:r>
              <a:rPr lang="en-IN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-IN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IN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Suitable for </a:t>
            </a:r>
            <a:r>
              <a:rPr lang="en-IN" sz="19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schools/colleges</a:t>
            </a:r>
            <a:r>
              <a:rPr lang="en-IN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as lab-based learning tools.</a:t>
            </a:r>
            <a:br>
              <a:rPr lang="en-IN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92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●"/>
            </a:pPr>
            <a:r>
              <a:rPr lang="en-IN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Valuable for </a:t>
            </a:r>
            <a:r>
              <a:rPr lang="en-IN" sz="19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NGOs</a:t>
            </a:r>
            <a:r>
              <a:rPr lang="en-IN" sz="1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promoting sustainable and eco-friendly agriculture.</a:t>
            </a:r>
            <a:endParaRPr sz="1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21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9" name="Google Shape;269;p28"/>
          <p:cNvSpPr txBox="1">
            <a:spLocks noGrp="1"/>
          </p:cNvSpPr>
          <p:nvPr>
            <p:ph type="dt" idx="10"/>
          </p:nvPr>
        </p:nvSpPr>
        <p:spPr>
          <a:xfrm>
            <a:off x="174812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IN" dirty="0"/>
              <a:t>Wednesday, 02 July 2025</a:t>
            </a:r>
          </a:p>
        </p:txBody>
      </p:sp>
      <p:sp>
        <p:nvSpPr>
          <p:cNvPr id="270" name="Google Shape;270;p28"/>
          <p:cNvSpPr txBox="1">
            <a:spLocks noGrp="1"/>
          </p:cNvSpPr>
          <p:nvPr>
            <p:ph type="sldNum" idx="12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16</a:t>
            </a:fld>
            <a:endParaRPr/>
          </a:p>
        </p:txBody>
      </p:sp>
      <p:sp>
        <p:nvSpPr>
          <p:cNvPr id="271" name="Google Shape;271;p28"/>
          <p:cNvSpPr txBox="1"/>
          <p:nvPr/>
        </p:nvSpPr>
        <p:spPr>
          <a:xfrm>
            <a:off x="2284362" y="145670"/>
            <a:ext cx="8146571" cy="839401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b="1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Applications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9"/>
          <p:cNvSpPr txBox="1">
            <a:spLocks noGrp="1"/>
          </p:cNvSpPr>
          <p:nvPr>
            <p:ph type="body" idx="1"/>
          </p:nvPr>
        </p:nvSpPr>
        <p:spPr>
          <a:xfrm>
            <a:off x="80300" y="1153125"/>
            <a:ext cx="11991300" cy="52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IN" sz="1897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Future Scope</a:t>
            </a:r>
            <a:endParaRPr sz="1897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0406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IN" sz="1697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Advanced Sensor Integration</a:t>
            </a:r>
            <a:r>
              <a:rPr lang="en-IN" sz="169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en-IN" sz="169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 sz="169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Future versions can include more precise sensors for </a:t>
            </a:r>
            <a:r>
              <a:rPr lang="en-IN" sz="1697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micro-nutrient detection</a:t>
            </a:r>
            <a:r>
              <a:rPr lang="en-IN" sz="169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IN" sz="1697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soil salinity</a:t>
            </a:r>
            <a:r>
              <a:rPr lang="en-IN" sz="169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lang="en-IN" sz="1697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organic content</a:t>
            </a:r>
            <a:r>
              <a:rPr lang="en-IN" sz="169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provide a more comprehensive soil profile.</a:t>
            </a:r>
            <a:br>
              <a:rPr lang="en-IN" sz="169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69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0406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IN" sz="1697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AI-Based Data Analysis</a:t>
            </a:r>
            <a:r>
              <a:rPr lang="en-IN" sz="169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en-IN" sz="169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 sz="169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Incorporating </a:t>
            </a:r>
            <a:r>
              <a:rPr lang="en-IN" sz="1697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machine learning models</a:t>
            </a:r>
            <a:r>
              <a:rPr lang="en-IN" sz="169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analyze long-term soil data can help in </a:t>
            </a:r>
            <a:r>
              <a:rPr lang="en-IN" sz="1697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predicting crop suitability</a:t>
            </a:r>
            <a:r>
              <a:rPr lang="en-IN" sz="169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IN" sz="1697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disease risks</a:t>
            </a:r>
            <a:r>
              <a:rPr lang="en-IN" sz="169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lang="en-IN" sz="1697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yield forecasting</a:t>
            </a:r>
            <a:r>
              <a:rPr lang="en-IN" sz="169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-IN" sz="169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69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0406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IN" sz="1697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Mobile App Enhancements</a:t>
            </a:r>
            <a:r>
              <a:rPr lang="en-IN" sz="169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en-IN" sz="169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 sz="169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Improve the dashboard with features like:</a:t>
            </a:r>
            <a:br>
              <a:rPr lang="en-IN" sz="169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69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0406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IN" sz="1697" b="1">
                <a:latin typeface="Arial"/>
                <a:ea typeface="Arial"/>
                <a:cs typeface="Arial"/>
                <a:sym typeface="Arial"/>
              </a:rPr>
              <a:t>Voice assistance</a:t>
            </a:r>
            <a:r>
              <a:rPr lang="en-IN" sz="1697">
                <a:latin typeface="Arial"/>
                <a:ea typeface="Arial"/>
                <a:cs typeface="Arial"/>
                <a:sym typeface="Arial"/>
              </a:rPr>
              <a:t> in regional languages</a:t>
            </a:r>
            <a:br>
              <a:rPr lang="en-IN" sz="1697">
                <a:latin typeface="Arial"/>
                <a:ea typeface="Arial"/>
                <a:cs typeface="Arial"/>
                <a:sym typeface="Arial"/>
              </a:rPr>
            </a:br>
            <a:endParaRPr sz="1697">
              <a:latin typeface="Arial"/>
              <a:ea typeface="Arial"/>
              <a:cs typeface="Arial"/>
              <a:sym typeface="Arial"/>
            </a:endParaRPr>
          </a:p>
          <a:p>
            <a:pPr marL="914400" lvl="1" indent="-30406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IN" sz="1697" b="1">
                <a:latin typeface="Arial"/>
                <a:ea typeface="Arial"/>
                <a:cs typeface="Arial"/>
                <a:sym typeface="Arial"/>
              </a:rPr>
              <a:t>Alert systems</a:t>
            </a:r>
            <a:r>
              <a:rPr lang="en-IN" sz="1697">
                <a:latin typeface="Arial"/>
                <a:ea typeface="Arial"/>
                <a:cs typeface="Arial"/>
                <a:sym typeface="Arial"/>
              </a:rPr>
              <a:t> for low moisture or nutrient levels</a:t>
            </a:r>
            <a:br>
              <a:rPr lang="en-IN" sz="1697">
                <a:latin typeface="Arial"/>
                <a:ea typeface="Arial"/>
                <a:cs typeface="Arial"/>
                <a:sym typeface="Arial"/>
              </a:rPr>
            </a:br>
            <a:endParaRPr sz="1697">
              <a:latin typeface="Arial"/>
              <a:ea typeface="Arial"/>
              <a:cs typeface="Arial"/>
              <a:sym typeface="Arial"/>
            </a:endParaRPr>
          </a:p>
          <a:p>
            <a:pPr marL="914400" lvl="1" indent="-30406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IN" sz="1697" b="1">
                <a:latin typeface="Arial"/>
                <a:ea typeface="Arial"/>
                <a:cs typeface="Arial"/>
                <a:sym typeface="Arial"/>
              </a:rPr>
              <a:t>Offline mode</a:t>
            </a:r>
            <a:r>
              <a:rPr lang="en-IN" sz="1697">
                <a:latin typeface="Arial"/>
                <a:ea typeface="Arial"/>
                <a:cs typeface="Arial"/>
                <a:sym typeface="Arial"/>
              </a:rPr>
              <a:t> for remote areas</a:t>
            </a:r>
            <a:br>
              <a:rPr lang="en-IN" sz="1697">
                <a:latin typeface="Arial"/>
                <a:ea typeface="Arial"/>
                <a:cs typeface="Arial"/>
                <a:sym typeface="Arial"/>
              </a:rPr>
            </a:br>
            <a:endParaRPr sz="1697">
              <a:latin typeface="Arial"/>
              <a:ea typeface="Arial"/>
              <a:cs typeface="Arial"/>
              <a:sym typeface="Arial"/>
            </a:endParaRPr>
          </a:p>
          <a:p>
            <a:pPr marL="457200" lvl="0" indent="-30406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IN" sz="1697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Solar-Powered System</a:t>
            </a:r>
            <a:r>
              <a:rPr lang="en-IN" sz="169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en-IN" sz="169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 sz="169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make the device more sustainable and field-ready, a </a:t>
            </a:r>
            <a:r>
              <a:rPr lang="en-IN" sz="1697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solar charging module</a:t>
            </a:r>
            <a:r>
              <a:rPr lang="en-IN" sz="169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can be added for energy independence.</a:t>
            </a:r>
            <a:br>
              <a:rPr lang="en-IN" sz="169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69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0406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IN" sz="1697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Multi-Plot Monitoring</a:t>
            </a:r>
            <a:r>
              <a:rPr lang="en-IN" sz="169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en-IN" sz="169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 sz="169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Expand the system to monitor </a:t>
            </a:r>
            <a:r>
              <a:rPr lang="en-IN" sz="1697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multiple farm plots</a:t>
            </a:r>
            <a:r>
              <a:rPr lang="en-IN" sz="169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using wireless sensor nodes connected to a central unit or cloud.</a:t>
            </a:r>
            <a:br>
              <a:rPr lang="en-IN" sz="169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69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0406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IN" sz="1697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Collaboration with Government Schemes</a:t>
            </a:r>
            <a:r>
              <a:rPr lang="en-IN" sz="169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br>
              <a:rPr lang="en-IN" sz="169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IN" sz="169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Integration with platforms like </a:t>
            </a:r>
            <a:r>
              <a:rPr lang="en-IN" sz="1697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Digital India</a:t>
            </a:r>
            <a:r>
              <a:rPr lang="en-IN" sz="169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IN" sz="1697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PM-Kisan</a:t>
            </a:r>
            <a:r>
              <a:rPr lang="en-IN" sz="169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or </a:t>
            </a:r>
            <a:r>
              <a:rPr lang="en-IN" sz="1697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Smart Farming initiatives</a:t>
            </a:r>
            <a:r>
              <a:rPr lang="en-IN" sz="169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can help scale the solution to benefit a larger farming community.</a:t>
            </a:r>
            <a:br>
              <a:rPr lang="en-IN" sz="1697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69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29"/>
          <p:cNvSpPr txBox="1">
            <a:spLocks noGrp="1"/>
          </p:cNvSpPr>
          <p:nvPr>
            <p:ph type="dt" idx="10"/>
          </p:nvPr>
        </p:nvSpPr>
        <p:spPr>
          <a:xfrm>
            <a:off x="174812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IN" dirty="0"/>
              <a:t>Wednesday, 02 July 2025</a:t>
            </a:r>
          </a:p>
        </p:txBody>
      </p:sp>
      <p:sp>
        <p:nvSpPr>
          <p:cNvPr id="279" name="Google Shape;279;p29"/>
          <p:cNvSpPr txBox="1">
            <a:spLocks noGrp="1"/>
          </p:cNvSpPr>
          <p:nvPr>
            <p:ph type="sldNum" idx="12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17</a:t>
            </a:fld>
            <a:endParaRPr/>
          </a:p>
        </p:txBody>
      </p:sp>
      <p:sp>
        <p:nvSpPr>
          <p:cNvPr id="280" name="Google Shape;280;p29"/>
          <p:cNvSpPr txBox="1"/>
          <p:nvPr/>
        </p:nvSpPr>
        <p:spPr>
          <a:xfrm>
            <a:off x="2284362" y="145670"/>
            <a:ext cx="8146571" cy="839401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b="1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Future Scope</a:t>
            </a:r>
            <a:endParaRPr sz="4000" b="1">
              <a:solidFill>
                <a:srgbClr val="C0000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0"/>
          <p:cNvSpPr txBox="1">
            <a:spLocks noGrp="1"/>
          </p:cNvSpPr>
          <p:nvPr>
            <p:ph type="body" idx="1"/>
          </p:nvPr>
        </p:nvSpPr>
        <p:spPr>
          <a:xfrm>
            <a:off x="80300" y="1153125"/>
            <a:ext cx="11991300" cy="52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3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IN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Areas for Further Research</a:t>
            </a:r>
            <a:endParaRPr sz="20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Soil-specific calibration models for </a:t>
            </a:r>
            <a:r>
              <a:rPr lang="en-IN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different agro-climatic zones</a:t>
            </a:r>
            <a:r>
              <a:rPr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Impact assessment of </a:t>
            </a:r>
            <a:r>
              <a:rPr lang="en-IN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sensor-based irrigation</a:t>
            </a:r>
            <a:r>
              <a:rPr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on crop yield and water conservation.</a:t>
            </a:r>
            <a:br>
              <a:rPr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Developing </a:t>
            </a:r>
            <a:r>
              <a:rPr lang="en-IN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open-source datasets</a:t>
            </a:r>
            <a:r>
              <a:rPr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Indian soil conditions.</a:t>
            </a:r>
            <a:br>
              <a:rPr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Studying long-term environmental benefits of </a:t>
            </a:r>
            <a:r>
              <a:rPr lang="en-IN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precision farming</a:t>
            </a:r>
            <a:r>
              <a:rPr lang="en-IN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using IoT-based tools.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None/>
            </a:pPr>
            <a:endParaRPr sz="2597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30"/>
          <p:cNvSpPr txBox="1">
            <a:spLocks noGrp="1"/>
          </p:cNvSpPr>
          <p:nvPr>
            <p:ph type="dt" idx="10"/>
          </p:nvPr>
        </p:nvSpPr>
        <p:spPr>
          <a:xfrm>
            <a:off x="174812" y="634720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IN" dirty="0"/>
              <a:t>Wednesday, 02 July 2025</a:t>
            </a:r>
          </a:p>
        </p:txBody>
      </p:sp>
      <p:sp>
        <p:nvSpPr>
          <p:cNvPr id="288" name="Google Shape;288;p30"/>
          <p:cNvSpPr txBox="1">
            <a:spLocks noGrp="1"/>
          </p:cNvSpPr>
          <p:nvPr>
            <p:ph type="sldNum" idx="12"/>
          </p:nvPr>
        </p:nvSpPr>
        <p:spPr>
          <a:xfrm>
            <a:off x="9273988" y="6347205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18</a:t>
            </a:fld>
            <a:endParaRPr/>
          </a:p>
        </p:txBody>
      </p:sp>
      <p:sp>
        <p:nvSpPr>
          <p:cNvPr id="289" name="Google Shape;289;p30"/>
          <p:cNvSpPr txBox="1"/>
          <p:nvPr/>
        </p:nvSpPr>
        <p:spPr>
          <a:xfrm>
            <a:off x="2284362" y="145670"/>
            <a:ext cx="8146500" cy="8394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b="1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Future Scope</a:t>
            </a:r>
            <a:endParaRPr sz="4000" b="1">
              <a:solidFill>
                <a:srgbClr val="C0000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1"/>
          <p:cNvSpPr txBox="1">
            <a:spLocks noGrp="1"/>
          </p:cNvSpPr>
          <p:nvPr>
            <p:ph type="body" idx="1"/>
          </p:nvPr>
        </p:nvSpPr>
        <p:spPr>
          <a:xfrm>
            <a:off x="174811" y="1117600"/>
            <a:ext cx="11842377" cy="5229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project successfully delivered a </a:t>
            </a:r>
            <a:r>
              <a:rPr lang="en-IN" sz="17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real-time soil monitoring system</a:t>
            </a:r>
            <a:r>
              <a:rPr lang="en-IN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that addresses the challenges faced by farmers in rural and semi-urban areas. The prototype measures essential soil parameters like </a:t>
            </a:r>
            <a:r>
              <a:rPr lang="en-IN" sz="17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moisture, pH, NPK levels</a:t>
            </a:r>
            <a:r>
              <a:rPr lang="en-IN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lang="en-IN" sz="17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electrical conductivity</a:t>
            </a:r>
            <a:r>
              <a:rPr lang="en-IN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while also integrating </a:t>
            </a:r>
            <a:r>
              <a:rPr lang="en-IN" sz="17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cloud connectivity</a:t>
            </a:r>
            <a:r>
              <a:rPr lang="en-IN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 </a:t>
            </a:r>
            <a:r>
              <a:rPr lang="en-IN" sz="17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mobile dashboard</a:t>
            </a:r>
            <a:r>
              <a:rPr lang="en-IN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lang="en-IN" sz="17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weather-based irrigation prediction</a:t>
            </a:r>
            <a:r>
              <a:rPr lang="en-IN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have met all the core objectives: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IN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Built a </a:t>
            </a:r>
            <a:r>
              <a:rPr lang="en-IN" sz="17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low-cost</a:t>
            </a:r>
            <a:r>
              <a:rPr lang="en-IN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IN" sz="17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portable</a:t>
            </a:r>
            <a:r>
              <a:rPr lang="en-IN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lang="en-IN" sz="17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user-friendly</a:t>
            </a:r>
            <a:r>
              <a:rPr lang="en-IN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device.</a:t>
            </a:r>
            <a:br>
              <a:rPr lang="en-IN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IN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Enabled </a:t>
            </a:r>
            <a:r>
              <a:rPr lang="en-IN" sz="17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automated irrigation</a:t>
            </a:r>
            <a:r>
              <a:rPr lang="en-IN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based on real-time soil data.</a:t>
            </a:r>
            <a:br>
              <a:rPr lang="en-IN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IN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Incorporated </a:t>
            </a:r>
            <a:r>
              <a:rPr lang="en-IN" sz="17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logging</a:t>
            </a:r>
            <a:r>
              <a:rPr lang="en-IN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IN" sz="17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remote access</a:t>
            </a:r>
            <a:r>
              <a:rPr lang="en-IN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assist in long-term soil and crop management.</a:t>
            </a:r>
            <a:br>
              <a:rPr lang="en-IN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IN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Designed the system to be scalable and adaptable for future use in </a:t>
            </a:r>
            <a:r>
              <a:rPr lang="en-IN" sz="17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smart farming</a:t>
            </a:r>
            <a:r>
              <a:rPr lang="en-IN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initiatives.</a:t>
            </a:r>
            <a:br>
              <a:rPr lang="en-IN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Through field testing and iterative improvements, the system is now ready for </a:t>
            </a:r>
            <a:r>
              <a:rPr lang="en-IN" sz="17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real-world deployment</a:t>
            </a:r>
            <a:r>
              <a:rPr lang="en-IN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offering farmers an effective tool to improve productivity, conserve resources, and adopt </a:t>
            </a:r>
            <a:r>
              <a:rPr lang="en-IN" sz="17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data-driven agricultural practices</a:t>
            </a:r>
            <a:r>
              <a:rPr lang="en-IN" sz="1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31"/>
          <p:cNvSpPr txBox="1">
            <a:spLocks noGrp="1"/>
          </p:cNvSpPr>
          <p:nvPr>
            <p:ph type="dt" idx="10"/>
          </p:nvPr>
        </p:nvSpPr>
        <p:spPr>
          <a:xfrm>
            <a:off x="174812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IN" dirty="0"/>
              <a:t>Wednesday, 02 July 2025</a:t>
            </a:r>
          </a:p>
        </p:txBody>
      </p:sp>
      <p:sp>
        <p:nvSpPr>
          <p:cNvPr id="297" name="Google Shape;297;p31"/>
          <p:cNvSpPr txBox="1">
            <a:spLocks noGrp="1"/>
          </p:cNvSpPr>
          <p:nvPr>
            <p:ph type="sldNum" idx="12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19</a:t>
            </a:fld>
            <a:endParaRPr/>
          </a:p>
        </p:txBody>
      </p:sp>
      <p:sp>
        <p:nvSpPr>
          <p:cNvPr id="298" name="Google Shape;298;p31"/>
          <p:cNvSpPr txBox="1"/>
          <p:nvPr/>
        </p:nvSpPr>
        <p:spPr>
          <a:xfrm>
            <a:off x="2284362" y="145670"/>
            <a:ext cx="8146571" cy="839401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b="1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Conclusion</a:t>
            </a:r>
            <a:endParaRPr sz="4000" b="1">
              <a:solidFill>
                <a:srgbClr val="C00000"/>
              </a:solidFill>
              <a:latin typeface="Bookman Old Style"/>
              <a:ea typeface="Bookman Old Style"/>
              <a:cs typeface="Bookman Old Style"/>
              <a:sym typeface="Bookman Old Style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2"/>
          <p:cNvSpPr txBox="1">
            <a:spLocks noGrp="1"/>
          </p:cNvSpPr>
          <p:nvPr>
            <p:ph type="body" idx="1"/>
          </p:nvPr>
        </p:nvSpPr>
        <p:spPr>
          <a:xfrm>
            <a:off x="174811" y="1117600"/>
            <a:ext cx="11842377" cy="5229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would like to express our sincere gratitude to </a:t>
            </a:r>
            <a:r>
              <a:rPr lang="en-IN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Dr. T. </a:t>
            </a:r>
            <a:r>
              <a:rPr lang="en-IN" sz="24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Bhuvaneswara</a:t>
            </a:r>
            <a:r>
              <a:rPr lang="en-IN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Babu</a:t>
            </a:r>
            <a:r>
              <a:rPr lang="en-IN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Professor, Department of Physics, for his continuous guidance, technical insights, and encouragement throughout the course of this project.</a:t>
            </a:r>
            <a:endParaRPr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 extend our heartfelt thanks to the </a:t>
            </a:r>
            <a:r>
              <a:rPr lang="en-IN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Department of Physics</a:t>
            </a:r>
            <a:r>
              <a:rPr lang="en-IN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our </a:t>
            </a:r>
            <a:r>
              <a:rPr lang="en-IN" sz="24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institution</a:t>
            </a:r>
            <a:r>
              <a:rPr lang="en-IN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for providing the necessary resources, infrastructure, and a supportive environment that enabled us to successfully complete our work.</a:t>
            </a:r>
            <a:endParaRPr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4100" dirty="0"/>
          </a:p>
        </p:txBody>
      </p:sp>
      <p:sp>
        <p:nvSpPr>
          <p:cNvPr id="305" name="Google Shape;305;p32"/>
          <p:cNvSpPr txBox="1">
            <a:spLocks noGrp="1"/>
          </p:cNvSpPr>
          <p:nvPr>
            <p:ph type="dt" idx="10"/>
          </p:nvPr>
        </p:nvSpPr>
        <p:spPr>
          <a:xfrm>
            <a:off x="174812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IN" dirty="0"/>
              <a:t>Wednesday, 02 July 2025</a:t>
            </a:r>
          </a:p>
        </p:txBody>
      </p:sp>
      <p:sp>
        <p:nvSpPr>
          <p:cNvPr id="306" name="Google Shape;306;p32"/>
          <p:cNvSpPr txBox="1">
            <a:spLocks noGrp="1"/>
          </p:cNvSpPr>
          <p:nvPr>
            <p:ph type="sldNum" idx="12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20</a:t>
            </a:fld>
            <a:endParaRPr/>
          </a:p>
        </p:txBody>
      </p:sp>
      <p:sp>
        <p:nvSpPr>
          <p:cNvPr id="307" name="Google Shape;307;p32"/>
          <p:cNvSpPr txBox="1"/>
          <p:nvPr/>
        </p:nvSpPr>
        <p:spPr>
          <a:xfrm>
            <a:off x="2284362" y="145670"/>
            <a:ext cx="8146571" cy="839401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b="1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Acknowledgments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3"/>
          <p:cNvSpPr txBox="1">
            <a:spLocks noGrp="1"/>
          </p:cNvSpPr>
          <p:nvPr>
            <p:ph type="body" idx="1"/>
          </p:nvPr>
        </p:nvSpPr>
        <p:spPr>
          <a:xfrm>
            <a:off x="174811" y="1117600"/>
            <a:ext cx="11842377" cy="52296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0800" indent="0">
              <a:buNone/>
            </a:pPr>
            <a:r>
              <a:rPr lang="en-IN" sz="2400" dirty="0">
                <a:solidFill>
                  <a:schemeClr val="dk1"/>
                </a:solidFill>
                <a:latin typeface="Arial"/>
                <a:cs typeface="Arial"/>
              </a:rPr>
              <a:t>[1] DFROBOT, “Gravity: Analog Capacitive Soil Moisture Sensor v1.2,” [Online]. Available: </a:t>
            </a:r>
            <a:r>
              <a:rPr lang="en-IN" sz="2400" u="sng" dirty="0">
                <a:hlinkClick r:id="rId3"/>
              </a:rPr>
              <a:t>https://wiki.dfrobot.com/Capacitive_Soil_Moisture_Sensor_SKU_SEN0193</a:t>
            </a:r>
            <a:endParaRPr lang="en-IN" sz="2400" dirty="0"/>
          </a:p>
          <a:p>
            <a:pPr marL="50800" indent="0">
              <a:buNone/>
            </a:pPr>
            <a:r>
              <a:rPr lang="en-IN" sz="2400" dirty="0">
                <a:solidFill>
                  <a:schemeClr val="dk1"/>
                </a:solidFill>
                <a:latin typeface="Arial"/>
                <a:cs typeface="Arial"/>
              </a:rPr>
              <a:t>[2] Lily Electronics, “TP4056 Li-Ion Battery Charging Module,” [Online]. Available: </a:t>
            </a:r>
            <a:r>
              <a:rPr lang="en-IN" sz="2400" u="sng" dirty="0">
                <a:hlinkClick r:id="rId4"/>
              </a:rPr>
              <a:t>https://www.lilygo.cc/products/tp4056-charging-module</a:t>
            </a:r>
            <a:endParaRPr lang="en-IN" sz="2400" dirty="0"/>
          </a:p>
          <a:p>
            <a:pPr marL="50800" indent="0">
              <a:buNone/>
            </a:pPr>
            <a:r>
              <a:rPr lang="en-IN" sz="2400" dirty="0">
                <a:solidFill>
                  <a:schemeClr val="dk1"/>
                </a:solidFill>
                <a:latin typeface="Arial"/>
                <a:cs typeface="Arial"/>
              </a:rPr>
              <a:t>[3] </a:t>
            </a:r>
            <a:r>
              <a:rPr lang="en-IN" sz="2400" dirty="0" err="1">
                <a:solidFill>
                  <a:schemeClr val="dk1"/>
                </a:solidFill>
                <a:latin typeface="Arial"/>
                <a:cs typeface="Arial"/>
              </a:rPr>
              <a:t>RobotDyn</a:t>
            </a:r>
            <a:r>
              <a:rPr lang="en-IN" sz="2400" dirty="0">
                <a:solidFill>
                  <a:schemeClr val="dk1"/>
                </a:solidFill>
                <a:latin typeface="Arial"/>
                <a:cs typeface="Arial"/>
              </a:rPr>
              <a:t>, “MT3608 DC-DC Boost Converter Datasheet,” [Online]. Available: </a:t>
            </a:r>
            <a:r>
              <a:rPr lang="en-IN" sz="2400" u="sng" dirty="0">
                <a:hlinkClick r:id="rId5"/>
              </a:rPr>
              <a:t>https://www.robotdyn.com/mt3608-dc-dc-boost.html</a:t>
            </a:r>
            <a:endParaRPr lang="en-IN" sz="2400" dirty="0"/>
          </a:p>
          <a:p>
            <a:pPr marL="50800" indent="0">
              <a:buNone/>
            </a:pPr>
            <a:r>
              <a:rPr lang="en-IN" sz="2400" dirty="0">
                <a:solidFill>
                  <a:schemeClr val="dk1"/>
                </a:solidFill>
                <a:latin typeface="Arial"/>
                <a:cs typeface="Arial"/>
              </a:rPr>
              <a:t>[4] Arduino, “Arduino IDE 2.0 Documentation,” [Online]. Available: </a:t>
            </a:r>
            <a:r>
              <a:rPr lang="en-IN" sz="2400" u="sng" dirty="0">
                <a:hlinkClick r:id="rId6"/>
              </a:rPr>
              <a:t>https://docs.arduino.cc/software/ide-v2</a:t>
            </a:r>
            <a:endParaRPr lang="en-IN" sz="2400" dirty="0"/>
          </a:p>
          <a:p>
            <a:pPr marL="50800" indent="0">
              <a:buNone/>
            </a:pPr>
            <a:r>
              <a:rPr lang="en-IN" sz="2400" dirty="0">
                <a:solidFill>
                  <a:schemeClr val="dk1"/>
                </a:solidFill>
                <a:latin typeface="Arial"/>
                <a:cs typeface="Arial"/>
              </a:rPr>
              <a:t>[5] F. Malpartida, “</a:t>
            </a:r>
            <a:r>
              <a:rPr lang="en-IN" sz="2400" dirty="0" err="1">
                <a:solidFill>
                  <a:schemeClr val="dk1"/>
                </a:solidFill>
                <a:latin typeface="Arial"/>
                <a:cs typeface="Arial"/>
              </a:rPr>
              <a:t>NewLiquidCrystal</a:t>
            </a:r>
            <a:r>
              <a:rPr lang="en-IN" sz="2400" dirty="0">
                <a:solidFill>
                  <a:schemeClr val="dk1"/>
                </a:solidFill>
                <a:latin typeface="Arial"/>
                <a:cs typeface="Arial"/>
              </a:rPr>
              <a:t> Library,” GitHub, [Online]. Available: </a:t>
            </a:r>
            <a:r>
              <a:rPr lang="en-IN" sz="2400" u="sng" dirty="0">
                <a:hlinkClick r:id="rId7"/>
              </a:rPr>
              <a:t>https://github.com/fmalpartida/New-LiquidCrystal</a:t>
            </a:r>
            <a:endParaRPr lang="en-IN" sz="2400" dirty="0"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2800"/>
              <a:buFont typeface="Arial"/>
              <a:buChar char="•"/>
            </a:pPr>
            <a:endParaRPr dirty="0"/>
          </a:p>
        </p:txBody>
      </p:sp>
      <p:sp>
        <p:nvSpPr>
          <p:cNvPr id="314" name="Google Shape;314;p33"/>
          <p:cNvSpPr txBox="1">
            <a:spLocks noGrp="1"/>
          </p:cNvSpPr>
          <p:nvPr>
            <p:ph type="dt" idx="10"/>
          </p:nvPr>
        </p:nvSpPr>
        <p:spPr>
          <a:xfrm>
            <a:off x="174812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IN" dirty="0"/>
              <a:t>Wednesday, 02 July 2025</a:t>
            </a:r>
          </a:p>
        </p:txBody>
      </p:sp>
      <p:sp>
        <p:nvSpPr>
          <p:cNvPr id="315" name="Google Shape;315;p33"/>
          <p:cNvSpPr txBox="1">
            <a:spLocks noGrp="1"/>
          </p:cNvSpPr>
          <p:nvPr>
            <p:ph type="sldNum" idx="12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21</a:t>
            </a:fld>
            <a:endParaRPr/>
          </a:p>
        </p:txBody>
      </p:sp>
      <p:sp>
        <p:nvSpPr>
          <p:cNvPr id="316" name="Google Shape;316;p33"/>
          <p:cNvSpPr txBox="1"/>
          <p:nvPr/>
        </p:nvSpPr>
        <p:spPr>
          <a:xfrm>
            <a:off x="2284362" y="145670"/>
            <a:ext cx="8146571" cy="839401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dash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b="1">
                <a:solidFill>
                  <a:srgbClr val="C00000"/>
                </a:solidFill>
                <a:latin typeface="Bookman Old Style"/>
                <a:ea typeface="Bookman Old Style"/>
                <a:cs typeface="Bookman Old Style"/>
                <a:sym typeface="Bookman Old Style"/>
              </a:rPr>
              <a:t>References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4"/>
          <p:cNvSpPr txBox="1">
            <a:spLocks noGrp="1"/>
          </p:cNvSpPr>
          <p:nvPr>
            <p:ph type="dt" idx="10"/>
          </p:nvPr>
        </p:nvSpPr>
        <p:spPr>
          <a:xfrm>
            <a:off x="174812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IN" dirty="0"/>
              <a:t>Wednesday, 02 July 2025</a:t>
            </a:r>
          </a:p>
        </p:txBody>
      </p:sp>
      <p:sp>
        <p:nvSpPr>
          <p:cNvPr id="322" name="Google Shape;322;p34"/>
          <p:cNvSpPr txBox="1">
            <a:spLocks noGrp="1"/>
          </p:cNvSpPr>
          <p:nvPr>
            <p:ph type="sldNum" idx="12"/>
          </p:nvPr>
        </p:nvSpPr>
        <p:spPr>
          <a:xfrm>
            <a:off x="9273988" y="634720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22</a:t>
            </a:fld>
            <a:endParaRPr/>
          </a:p>
        </p:txBody>
      </p:sp>
      <p:pic>
        <p:nvPicPr>
          <p:cNvPr id="323" name="Google Shape;323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51096" y="1605964"/>
            <a:ext cx="5889812" cy="3646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1782</Words>
  <Application>Microsoft Office PowerPoint</Application>
  <PresentationFormat>Widescreen</PresentationFormat>
  <Paragraphs>219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Bookman Old Style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Aayushi Priya</cp:lastModifiedBy>
  <cp:revision>4</cp:revision>
  <dcterms:modified xsi:type="dcterms:W3CDTF">2025-07-03T14:31:43Z</dcterms:modified>
</cp:coreProperties>
</file>